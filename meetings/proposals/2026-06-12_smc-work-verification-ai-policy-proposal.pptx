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C0000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143000"/>
            <a:ext cx="10789920" cy="502920"/>
          </a:xfrm>
          <a:prstGeom prst="rect">
            <a:avLst/>
          </a:prstGeom>
          <a:noFill/>
        </p:spPr>
        <p:txBody>
          <a:bodyPr wrap="none" lIns="27432" rIns="27432" tIns="18288" bIns="18288">
            <a:spAutoFit/>
          </a:bodyPr>
          <a:lstStyle/>
          <a:p>
            <a:r>
              <a:rPr sz="2000" b="1">
                <a:solidFill>
                  <a:srgbClr val="C00000"/>
                </a:solidFill>
                <a:latin typeface="Hiragino Sans"/>
              </a:rPr>
              <a:t>SMC様向け</a:t>
            </a:r>
          </a:p>
        </p:txBody>
      </p:sp>
      <p:sp>
        <p:nvSpPr>
          <p:cNvPr id="4" name="TextBox 3"/>
          <p:cNvSpPr txBox="1"/>
          <p:nvPr/>
        </p:nvSpPr>
        <p:spPr>
          <a:xfrm>
            <a:off x="685800" y="1664208"/>
            <a:ext cx="10789920" cy="1143000"/>
          </a:xfrm>
          <a:prstGeom prst="rect">
            <a:avLst/>
          </a:prstGeom>
          <a:noFill/>
        </p:spPr>
        <p:txBody>
          <a:bodyPr wrap="none" lIns="27432" rIns="27432" tIns="18288" bIns="18288">
            <a:spAutoFit/>
          </a:bodyPr>
          <a:lstStyle/>
          <a:p>
            <a:r>
              <a:rPr sz="4200" b="1">
                <a:solidFill>
                  <a:srgbClr val="282D34"/>
                </a:solidFill>
                <a:latin typeface="Hiragino Sans"/>
              </a:rPr>
              <a:t>ワーク実証記録AI化
初期提案資料</a:t>
            </a:r>
          </a:p>
        </p:txBody>
      </p:sp>
      <p:sp>
        <p:nvSpPr>
          <p:cNvPr id="5" name="TextBox 4"/>
          <p:cNvSpPr txBox="1"/>
          <p:nvPr/>
        </p:nvSpPr>
        <p:spPr>
          <a:xfrm>
            <a:off x="713232" y="3035808"/>
            <a:ext cx="9601200" cy="640080"/>
          </a:xfrm>
          <a:prstGeom prst="rect">
            <a:avLst/>
          </a:prstGeom>
          <a:noFill/>
        </p:spPr>
        <p:txBody>
          <a:bodyPr wrap="none" lIns="27432" rIns="27432" tIns="18288" bIns="18288">
            <a:spAutoFit/>
          </a:bodyPr>
          <a:lstStyle/>
          <a:p>
            <a:r>
              <a:rPr sz="2000" b="0">
                <a:solidFill>
                  <a:srgbClr val="5B636E"/>
                </a:solidFill>
                <a:latin typeface="Hiragino Sans"/>
              </a:rPr>
              <a:t>AI活用ポリシー/セキュリティポリシー確認に向けた事前相談用</a:t>
            </a:r>
          </a:p>
        </p:txBody>
      </p:sp>
      <p:sp>
        <p:nvSpPr>
          <p:cNvPr id="6" name="Rounded Rectangle 5"/>
          <p:cNvSpPr/>
          <p:nvPr/>
        </p:nvSpPr>
        <p:spPr>
          <a:xfrm>
            <a:off x="713232" y="4069080"/>
            <a:ext cx="2148840" cy="502920"/>
          </a:xfrm>
          <a:prstGeom prst="roundRect">
            <a:avLst>
              <a:gd name="adj" fmla="val 8000"/>
            </a:avLst>
          </a:prstGeom>
          <a:solidFill>
            <a:srgbClr val="F5F7FA"/>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4215384"/>
            <a:ext cx="1874519" cy="164592"/>
          </a:xfrm>
          <a:prstGeom prst="rect">
            <a:avLst/>
          </a:prstGeom>
          <a:noFill/>
        </p:spPr>
        <p:txBody>
          <a:bodyPr wrap="none" lIns="27432" rIns="27432" tIns="18288" bIns="18288">
            <a:spAutoFit/>
          </a:bodyPr>
          <a:lstStyle/>
          <a:p>
            <a:pPr algn="ctr"/>
            <a:r>
              <a:rPr sz="1200" b="1">
                <a:solidFill>
                  <a:srgbClr val="C00000"/>
                </a:solidFill>
                <a:latin typeface="Hiragino Sans"/>
              </a:rPr>
              <a:t>記録・レポート化</a:t>
            </a:r>
          </a:p>
        </p:txBody>
      </p:sp>
      <p:sp>
        <p:nvSpPr>
          <p:cNvPr id="8" name="Rounded Rectangle 7"/>
          <p:cNvSpPr/>
          <p:nvPr/>
        </p:nvSpPr>
        <p:spPr>
          <a:xfrm>
            <a:off x="3136391" y="4069080"/>
            <a:ext cx="2148840" cy="502920"/>
          </a:xfrm>
          <a:prstGeom prst="roundRect">
            <a:avLst>
              <a:gd name="adj" fmla="val 8000"/>
            </a:avLst>
          </a:prstGeom>
          <a:solidFill>
            <a:srgbClr val="F5F7FA"/>
          </a:solidFill>
          <a:ln>
            <a:solidFill>
              <a:srgbClr val="1C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64408" y="4215384"/>
            <a:ext cx="1874519" cy="164592"/>
          </a:xfrm>
          <a:prstGeom prst="rect">
            <a:avLst/>
          </a:prstGeom>
          <a:noFill/>
        </p:spPr>
        <p:txBody>
          <a:bodyPr wrap="none" lIns="27432" rIns="27432" tIns="18288" bIns="18288">
            <a:spAutoFit/>
          </a:bodyPr>
          <a:lstStyle/>
          <a:p>
            <a:pPr algn="ctr"/>
            <a:r>
              <a:rPr sz="1200" b="1">
                <a:solidFill>
                  <a:srgbClr val="1C5BAA"/>
                </a:solidFill>
                <a:latin typeface="Hiragino Sans"/>
              </a:rPr>
              <a:t>暗黙知のデータ化</a:t>
            </a:r>
          </a:p>
        </p:txBody>
      </p:sp>
      <p:sp>
        <p:nvSpPr>
          <p:cNvPr id="10" name="Rounded Rectangle 9"/>
          <p:cNvSpPr/>
          <p:nvPr/>
        </p:nvSpPr>
        <p:spPr>
          <a:xfrm>
            <a:off x="5559552" y="4069080"/>
            <a:ext cx="2148840" cy="502920"/>
          </a:xfrm>
          <a:prstGeom prst="roundRect">
            <a:avLst>
              <a:gd name="adj" fmla="val 8000"/>
            </a:avLst>
          </a:prstGeom>
          <a:solidFill>
            <a:srgbClr val="F5F7FA"/>
          </a:solidFill>
          <a:ln>
            <a:solidFill>
              <a:srgbClr val="1484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87568" y="4215384"/>
            <a:ext cx="1874519" cy="164592"/>
          </a:xfrm>
          <a:prstGeom prst="rect">
            <a:avLst/>
          </a:prstGeom>
          <a:noFill/>
        </p:spPr>
        <p:txBody>
          <a:bodyPr wrap="none" lIns="27432" rIns="27432" tIns="18288" bIns="18288">
            <a:spAutoFit/>
          </a:bodyPr>
          <a:lstStyle/>
          <a:p>
            <a:pPr algn="ctr"/>
            <a:r>
              <a:rPr sz="1200" b="1">
                <a:solidFill>
                  <a:srgbClr val="148454"/>
                </a:solidFill>
                <a:latin typeface="Hiragino Sans"/>
              </a:rPr>
              <a:t>将来の選定支援</a:t>
            </a:r>
          </a:p>
        </p:txBody>
      </p:sp>
      <p:sp>
        <p:nvSpPr>
          <p:cNvPr id="12" name="TextBox 11"/>
          <p:cNvSpPr txBox="1"/>
          <p:nvPr/>
        </p:nvSpPr>
        <p:spPr>
          <a:xfrm>
            <a:off x="713232" y="5870448"/>
            <a:ext cx="4572000" cy="256032"/>
          </a:xfrm>
          <a:prstGeom prst="rect">
            <a:avLst/>
          </a:prstGeom>
          <a:noFill/>
        </p:spPr>
        <p:txBody>
          <a:bodyPr wrap="none" lIns="27432" rIns="27432" tIns="18288" bIns="18288">
            <a:spAutoFit/>
          </a:bodyPr>
          <a:lstStyle/>
          <a:p>
            <a:r>
              <a:rPr sz="1200" b="0">
                <a:solidFill>
                  <a:srgbClr val="5B636E"/>
                </a:solidFill>
                <a:latin typeface="Hiragino Sans"/>
              </a:rPr>
              <a:t>2026年6月12日 / BAAO・Unson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9875520" cy="411480"/>
          </a:xfrm>
          <a:prstGeom prst="rect">
            <a:avLst/>
          </a:prstGeom>
          <a:noFill/>
        </p:spPr>
        <p:txBody>
          <a:bodyPr wrap="none" lIns="27432" rIns="27432" tIns="18288" bIns="18288">
            <a:spAutoFit/>
          </a:bodyPr>
          <a:lstStyle/>
          <a:p>
            <a:r>
              <a:rPr sz="2400" b="1">
                <a:solidFill>
                  <a:srgbClr val="282D34"/>
                </a:solidFill>
                <a:latin typeface="Hiragino Sans"/>
              </a:rPr>
              <a:t>本資料の目的</a:t>
            </a:r>
          </a:p>
        </p:txBody>
      </p:sp>
      <p:sp>
        <p:nvSpPr>
          <p:cNvPr id="3" name="TextBox 2"/>
          <p:cNvSpPr txBox="1"/>
          <p:nvPr/>
        </p:nvSpPr>
        <p:spPr>
          <a:xfrm>
            <a:off x="10058400" y="283464"/>
            <a:ext cx="1554480" cy="320040"/>
          </a:xfrm>
          <a:prstGeom prst="rect">
            <a:avLst/>
          </a:prstGeom>
          <a:noFill/>
        </p:spPr>
        <p:txBody>
          <a:bodyPr wrap="none" lIns="27432" rIns="27432" tIns="18288" bIns="18288">
            <a:spAutoFit/>
          </a:bodyPr>
          <a:lstStyle/>
          <a:p>
            <a:pPr algn="r"/>
            <a:r>
              <a:rPr sz="1000" b="1">
                <a:solidFill>
                  <a:srgbClr val="5B636E"/>
                </a:solidFill>
                <a:latin typeface="Hiragino Sans"/>
              </a:rPr>
              <a:t>Purpose</a:t>
            </a:r>
          </a:p>
        </p:txBody>
      </p:sp>
      <p:sp>
        <p:nvSpPr>
          <p:cNvPr id="4" name="Rectangle 3"/>
          <p:cNvSpPr/>
          <p:nvPr/>
        </p:nvSpPr>
        <p:spPr>
          <a:xfrm>
            <a:off x="502920" y="758952"/>
            <a:ext cx="11155680" cy="18288"/>
          </a:xfrm>
          <a:prstGeom prst="rect">
            <a:avLst/>
          </a:prstGeom>
          <a:solidFill>
            <a:srgbClr val="DA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4572000" cy="201168"/>
          </a:xfrm>
          <a:prstGeom prst="rect">
            <a:avLst/>
          </a:prstGeom>
          <a:noFill/>
        </p:spPr>
        <p:txBody>
          <a:bodyPr wrap="none" lIns="27432" rIns="27432" tIns="18288" bIns="18288">
            <a:spAutoFit/>
          </a:bodyPr>
          <a:lstStyle/>
          <a:p>
            <a:r>
              <a:rPr sz="800" b="0">
                <a:solidFill>
                  <a:srgbClr val="5B636E"/>
                </a:solidFill>
                <a:latin typeface="Hiragino Sans"/>
              </a:rPr>
              <a:t>SMC様向け ワーク実証記録AI化 初期提案</a:t>
            </a:r>
          </a:p>
        </p:txBody>
      </p:sp>
      <p:sp>
        <p:nvSpPr>
          <p:cNvPr id="6" name="TextBox 5"/>
          <p:cNvSpPr txBox="1"/>
          <p:nvPr/>
        </p:nvSpPr>
        <p:spPr>
          <a:xfrm>
            <a:off x="10789920" y="6446520"/>
            <a:ext cx="822960" cy="201168"/>
          </a:xfrm>
          <a:prstGeom prst="rect">
            <a:avLst/>
          </a:prstGeom>
          <a:noFill/>
        </p:spPr>
        <p:txBody>
          <a:bodyPr wrap="none" lIns="27432" rIns="27432" tIns="18288" bIns="18288">
            <a:spAutoFit/>
          </a:bodyPr>
          <a:lstStyle/>
          <a:p>
            <a:pPr algn="r"/>
            <a:r>
              <a:rPr sz="800" b="0">
                <a:solidFill>
                  <a:srgbClr val="5B636E"/>
                </a:solidFill>
                <a:latin typeface="Hiragino Sans"/>
              </a:rPr>
              <a:t>2</a:t>
            </a:r>
          </a:p>
        </p:txBody>
      </p:sp>
      <p:sp>
        <p:nvSpPr>
          <p:cNvPr id="7" name="TextBox 6"/>
          <p:cNvSpPr txBox="1"/>
          <p:nvPr/>
        </p:nvSpPr>
        <p:spPr>
          <a:xfrm>
            <a:off x="731520" y="1143000"/>
            <a:ext cx="10332720" cy="502920"/>
          </a:xfrm>
          <a:prstGeom prst="rect">
            <a:avLst/>
          </a:prstGeom>
          <a:noFill/>
        </p:spPr>
        <p:txBody>
          <a:bodyPr wrap="none" lIns="27432" rIns="27432" tIns="18288" bIns="18288">
            <a:spAutoFit/>
          </a:bodyPr>
          <a:lstStyle/>
          <a:p>
            <a:r>
              <a:rPr sz="2400" b="1">
                <a:solidFill>
                  <a:srgbClr val="282D34"/>
                </a:solidFill>
                <a:latin typeface="Hiragino Sans"/>
              </a:rPr>
              <a:t>本格開発の前に、SMC様内のAI活用・セキュリティ要件を確認するための叩き台です。</a:t>
            </a:r>
          </a:p>
        </p:txBody>
      </p:sp>
      <p:sp>
        <p:nvSpPr>
          <p:cNvPr id="8" name="Rounded Rectangle 7"/>
          <p:cNvSpPr/>
          <p:nvPr/>
        </p:nvSpPr>
        <p:spPr>
          <a:xfrm>
            <a:off x="731520" y="2057400"/>
            <a:ext cx="3337560" cy="2240280"/>
          </a:xfrm>
          <a:prstGeom prst="roundRect">
            <a:avLst>
              <a:gd name="adj" fmla="val 5000"/>
            </a:avLst>
          </a:prstGeom>
          <a:solidFill>
            <a:srgbClr val="FFFFFF"/>
          </a:solidFill>
          <a:ln>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057400"/>
            <a:ext cx="73152" cy="22402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212848"/>
            <a:ext cx="2990088" cy="320040"/>
          </a:xfrm>
          <a:prstGeom prst="rect">
            <a:avLst/>
          </a:prstGeom>
          <a:noFill/>
        </p:spPr>
        <p:txBody>
          <a:bodyPr wrap="none" lIns="27432" rIns="27432" tIns="18288" bIns="18288">
            <a:spAutoFit/>
          </a:bodyPr>
          <a:lstStyle/>
          <a:p>
            <a:r>
              <a:rPr sz="1600" b="1">
                <a:solidFill>
                  <a:srgbClr val="282D34"/>
                </a:solidFill>
                <a:latin typeface="Hiragino Sans"/>
              </a:rPr>
              <a:t>確認したいこと</a:t>
            </a:r>
          </a:p>
        </p:txBody>
      </p:sp>
      <p:sp>
        <p:nvSpPr>
          <p:cNvPr id="11" name="TextBox 10"/>
          <p:cNvSpPr txBox="1"/>
          <p:nvPr/>
        </p:nvSpPr>
        <p:spPr>
          <a:xfrm>
            <a:off x="932688" y="2679192"/>
            <a:ext cx="2990088" cy="1490472"/>
          </a:xfrm>
          <a:prstGeom prst="rect">
            <a:avLst/>
          </a:prstGeom>
          <a:noFill/>
        </p:spPr>
        <p:txBody>
          <a:bodyPr wrap="square" lIns="45720" rIns="45720" tIns="18288" bIns="18288">
            <a:spAutoFit/>
          </a:bodyPr>
          <a:lstStyle/>
          <a:p>
            <a:pPr>
              <a:spcAft>
                <a:spcPts val="700"/>
              </a:spcAft>
              <a:defRPr sz="1300">
                <a:solidFill>
                  <a:srgbClr val="5B636E"/>
                </a:solidFill>
                <a:latin typeface="Hiragino Sans"/>
              </a:defRPr>
            </a:pPr>
            <a:r>
              <a:t>顧客ワーク画像/動画/音声メモをAI処理できるか</a:t>
            </a:r>
          </a:p>
          <a:p>
            <a:pPr>
              <a:spcAft>
                <a:spcPts val="700"/>
              </a:spcAft>
              <a:defRPr sz="1300">
                <a:solidFill>
                  <a:srgbClr val="5B636E"/>
                </a:solidFill>
                <a:latin typeface="Hiragino Sans"/>
              </a:defRPr>
            </a:pPr>
            <a:r>
              <a:t>外部AI APIまたは社内AI基盤の利用可否</a:t>
            </a:r>
          </a:p>
          <a:p>
            <a:pPr>
              <a:spcAft>
                <a:spcPts val="700"/>
              </a:spcAft>
              <a:defRPr sz="1300">
                <a:solidFill>
                  <a:srgbClr val="5B636E"/>
                </a:solidFill>
                <a:latin typeface="Hiragino Sans"/>
              </a:defRPr>
            </a:pPr>
            <a:r>
              <a:t>外部パートナーのデータアクセス範囲</a:t>
            </a:r>
          </a:p>
        </p:txBody>
      </p:sp>
      <p:sp>
        <p:nvSpPr>
          <p:cNvPr id="12" name="Rounded Rectangle 11"/>
          <p:cNvSpPr/>
          <p:nvPr/>
        </p:nvSpPr>
        <p:spPr>
          <a:xfrm>
            <a:off x="4434840" y="2057400"/>
            <a:ext cx="3337560" cy="2240280"/>
          </a:xfrm>
          <a:prstGeom prst="roundRect">
            <a:avLst>
              <a:gd name="adj" fmla="val 5000"/>
            </a:avLst>
          </a:prstGeom>
          <a:solidFill>
            <a:srgbClr val="FFFFFF"/>
          </a:solidFill>
          <a:ln>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34840" y="2057400"/>
            <a:ext cx="73152" cy="2240280"/>
          </a:xfrm>
          <a:prstGeom prst="rect">
            <a:avLst/>
          </a:prstGeom>
          <a:solidFill>
            <a:srgbClr val="1C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7" y="2212848"/>
            <a:ext cx="2990088" cy="320040"/>
          </a:xfrm>
          <a:prstGeom prst="rect">
            <a:avLst/>
          </a:prstGeom>
          <a:noFill/>
        </p:spPr>
        <p:txBody>
          <a:bodyPr wrap="none" lIns="27432" rIns="27432" tIns="18288" bIns="18288">
            <a:spAutoFit/>
          </a:bodyPr>
          <a:lstStyle/>
          <a:p>
            <a:r>
              <a:rPr sz="1600" b="1">
                <a:solidFill>
                  <a:srgbClr val="282D34"/>
                </a:solidFill>
                <a:latin typeface="Hiragino Sans"/>
              </a:rPr>
              <a:t>初期PoCの位置づけ</a:t>
            </a:r>
          </a:p>
        </p:txBody>
      </p:sp>
      <p:sp>
        <p:nvSpPr>
          <p:cNvPr id="15" name="TextBox 14"/>
          <p:cNvSpPr txBox="1"/>
          <p:nvPr/>
        </p:nvSpPr>
        <p:spPr>
          <a:xfrm>
            <a:off x="4636007" y="2679192"/>
            <a:ext cx="2990088" cy="1490472"/>
          </a:xfrm>
          <a:prstGeom prst="rect">
            <a:avLst/>
          </a:prstGeom>
          <a:noFill/>
        </p:spPr>
        <p:txBody>
          <a:bodyPr wrap="square" lIns="45720" rIns="45720" tIns="18288" bIns="18288">
            <a:spAutoFit/>
          </a:bodyPr>
          <a:lstStyle/>
          <a:p>
            <a:pPr>
              <a:spcAft>
                <a:spcPts val="700"/>
              </a:spcAft>
              <a:defRPr sz="1300">
                <a:solidFill>
                  <a:srgbClr val="5B636E"/>
                </a:solidFill>
                <a:latin typeface="Hiragino Sans"/>
              </a:defRPr>
            </a:pPr>
            <a:r>
              <a:t>顧客向けサービスではなく、社内の実証記録支援から開始</a:t>
            </a:r>
          </a:p>
          <a:p>
            <a:pPr>
              <a:spcAft>
                <a:spcPts val="700"/>
              </a:spcAft>
              <a:defRPr sz="1300">
                <a:solidFill>
                  <a:srgbClr val="5B636E"/>
                </a:solidFill>
                <a:latin typeface="Hiragino Sans"/>
              </a:defRPr>
            </a:pPr>
            <a:r>
              <a:t>AIは下書き作成、人間が確認・承認</a:t>
            </a:r>
          </a:p>
          <a:p>
            <a:pPr>
              <a:spcAft>
                <a:spcPts val="700"/>
              </a:spcAft>
              <a:defRPr sz="1300">
                <a:solidFill>
                  <a:srgbClr val="5B636E"/>
                </a:solidFill>
                <a:latin typeface="Hiragino Sans"/>
              </a:defRPr>
            </a:pPr>
            <a:r>
              <a:t>限定データ・限定ユーザーで検証</a:t>
            </a:r>
          </a:p>
        </p:txBody>
      </p:sp>
      <p:sp>
        <p:nvSpPr>
          <p:cNvPr id="16" name="Rounded Rectangle 15"/>
          <p:cNvSpPr/>
          <p:nvPr/>
        </p:nvSpPr>
        <p:spPr>
          <a:xfrm>
            <a:off x="8138160" y="2057400"/>
            <a:ext cx="3337560" cy="2240280"/>
          </a:xfrm>
          <a:prstGeom prst="roundRect">
            <a:avLst>
              <a:gd name="adj" fmla="val 5000"/>
            </a:avLst>
          </a:prstGeom>
          <a:solidFill>
            <a:srgbClr val="FFFFFF"/>
          </a:solidFill>
          <a:ln>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38160" y="2057400"/>
            <a:ext cx="73152" cy="2240280"/>
          </a:xfrm>
          <a:prstGeom prst="rect">
            <a:avLst/>
          </a:prstGeom>
          <a:solidFill>
            <a:srgbClr val="148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8" y="2212848"/>
            <a:ext cx="2990088" cy="320040"/>
          </a:xfrm>
          <a:prstGeom prst="rect">
            <a:avLst/>
          </a:prstGeom>
          <a:noFill/>
        </p:spPr>
        <p:txBody>
          <a:bodyPr wrap="none" lIns="27432" rIns="27432" tIns="18288" bIns="18288">
            <a:spAutoFit/>
          </a:bodyPr>
          <a:lstStyle/>
          <a:p>
            <a:r>
              <a:rPr sz="1600" b="1">
                <a:solidFill>
                  <a:srgbClr val="282D34"/>
                </a:solidFill>
                <a:latin typeface="Hiragino Sans"/>
              </a:rPr>
              <a:t>将来の展開</a:t>
            </a:r>
          </a:p>
        </p:txBody>
      </p:sp>
      <p:sp>
        <p:nvSpPr>
          <p:cNvPr id="19" name="TextBox 18"/>
          <p:cNvSpPr txBox="1"/>
          <p:nvPr/>
        </p:nvSpPr>
        <p:spPr>
          <a:xfrm>
            <a:off x="8339328" y="2679192"/>
            <a:ext cx="2990088" cy="1490472"/>
          </a:xfrm>
          <a:prstGeom prst="rect">
            <a:avLst/>
          </a:prstGeom>
          <a:noFill/>
        </p:spPr>
        <p:txBody>
          <a:bodyPr wrap="square" lIns="45720" rIns="45720" tIns="18288" bIns="18288">
            <a:spAutoFit/>
          </a:bodyPr>
          <a:lstStyle/>
          <a:p>
            <a:pPr>
              <a:spcAft>
                <a:spcPts val="700"/>
              </a:spcAft>
              <a:defRPr sz="1300">
                <a:solidFill>
                  <a:srgbClr val="5B636E"/>
                </a:solidFill>
                <a:latin typeface="Hiragino Sans"/>
              </a:defRPr>
            </a:pPr>
            <a:r>
              <a:t>実証データを製品選定ナレッジとして蓄積</a:t>
            </a:r>
          </a:p>
          <a:p>
            <a:pPr>
              <a:spcAft>
                <a:spcPts val="700"/>
              </a:spcAft>
              <a:defRPr sz="1300">
                <a:solidFill>
                  <a:srgbClr val="5B636E"/>
                </a:solidFill>
                <a:latin typeface="Hiragino Sans"/>
              </a:defRPr>
            </a:pPr>
            <a:r>
              <a:t>社内選定支援から顧客向け一次見積もりへ拡張</a:t>
            </a:r>
          </a:p>
          <a:p>
            <a:pPr>
              <a:spcAft>
                <a:spcPts val="700"/>
              </a:spcAft>
              <a:defRPr sz="1300">
                <a:solidFill>
                  <a:srgbClr val="5B636E"/>
                </a:solidFill>
                <a:latin typeface="Hiragino Sans"/>
              </a:defRPr>
            </a:pPr>
            <a:r>
              <a:t>マーケットプレイスは後続フェーズ</a:t>
            </a:r>
          </a:p>
        </p:txBody>
      </p:sp>
      <p:sp>
        <p:nvSpPr>
          <p:cNvPr id="20" name="TextBox 19"/>
          <p:cNvSpPr txBox="1"/>
          <p:nvPr/>
        </p:nvSpPr>
        <p:spPr>
          <a:xfrm>
            <a:off x="777240" y="4983480"/>
            <a:ext cx="10424160" cy="457200"/>
          </a:xfrm>
          <a:prstGeom prst="rect">
            <a:avLst/>
          </a:prstGeom>
          <a:noFill/>
        </p:spPr>
        <p:txBody>
          <a:bodyPr wrap="none" lIns="27432" rIns="27432" tIns="18288" bIns="18288">
            <a:spAutoFit/>
          </a:bodyPr>
          <a:lstStyle/>
          <a:p>
            <a:r>
              <a:rPr sz="2200" b="1">
                <a:solidFill>
                  <a:srgbClr val="C00000"/>
                </a:solidFill>
                <a:latin typeface="Hiragino Sans"/>
              </a:rPr>
              <a:t>結論: まず「何のデータを、どこで、誰が、どのAI基盤で扱えるか」を合意する。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9875520" cy="411480"/>
          </a:xfrm>
          <a:prstGeom prst="rect">
            <a:avLst/>
          </a:prstGeom>
          <a:noFill/>
        </p:spPr>
        <p:txBody>
          <a:bodyPr wrap="none" lIns="27432" rIns="27432" tIns="18288" bIns="18288">
            <a:spAutoFit/>
          </a:bodyPr>
          <a:lstStyle/>
          <a:p>
            <a:r>
              <a:rPr sz="2400" b="1">
                <a:solidFill>
                  <a:srgbClr val="282D34"/>
                </a:solidFill>
                <a:latin typeface="Hiragino Sans"/>
              </a:rPr>
              <a:t>現場課題: 実証結果がデータとして残りにくい</a:t>
            </a:r>
          </a:p>
        </p:txBody>
      </p:sp>
      <p:sp>
        <p:nvSpPr>
          <p:cNvPr id="3" name="TextBox 2"/>
          <p:cNvSpPr txBox="1"/>
          <p:nvPr/>
        </p:nvSpPr>
        <p:spPr>
          <a:xfrm>
            <a:off x="10058400" y="283464"/>
            <a:ext cx="1554480" cy="320040"/>
          </a:xfrm>
          <a:prstGeom prst="rect">
            <a:avLst/>
          </a:prstGeom>
          <a:noFill/>
        </p:spPr>
        <p:txBody>
          <a:bodyPr wrap="none" lIns="27432" rIns="27432" tIns="18288" bIns="18288">
            <a:spAutoFit/>
          </a:bodyPr>
          <a:lstStyle/>
          <a:p>
            <a:pPr algn="r"/>
            <a:r>
              <a:rPr sz="1000" b="1">
                <a:solidFill>
                  <a:srgbClr val="5B636E"/>
                </a:solidFill>
                <a:latin typeface="Hiragino Sans"/>
              </a:rPr>
              <a:t>Current Issue</a:t>
            </a:r>
          </a:p>
        </p:txBody>
      </p:sp>
      <p:sp>
        <p:nvSpPr>
          <p:cNvPr id="4" name="Rectangle 3"/>
          <p:cNvSpPr/>
          <p:nvPr/>
        </p:nvSpPr>
        <p:spPr>
          <a:xfrm>
            <a:off x="502920" y="758952"/>
            <a:ext cx="11155680" cy="18288"/>
          </a:xfrm>
          <a:prstGeom prst="rect">
            <a:avLst/>
          </a:prstGeom>
          <a:solidFill>
            <a:srgbClr val="DA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4572000" cy="201168"/>
          </a:xfrm>
          <a:prstGeom prst="rect">
            <a:avLst/>
          </a:prstGeom>
          <a:noFill/>
        </p:spPr>
        <p:txBody>
          <a:bodyPr wrap="none" lIns="27432" rIns="27432" tIns="18288" bIns="18288">
            <a:spAutoFit/>
          </a:bodyPr>
          <a:lstStyle/>
          <a:p>
            <a:r>
              <a:rPr sz="800" b="0">
                <a:solidFill>
                  <a:srgbClr val="5B636E"/>
                </a:solidFill>
                <a:latin typeface="Hiragino Sans"/>
              </a:rPr>
              <a:t>SMC様向け ワーク実証記録AI化 初期提案</a:t>
            </a:r>
          </a:p>
        </p:txBody>
      </p:sp>
      <p:sp>
        <p:nvSpPr>
          <p:cNvPr id="6" name="TextBox 5"/>
          <p:cNvSpPr txBox="1"/>
          <p:nvPr/>
        </p:nvSpPr>
        <p:spPr>
          <a:xfrm>
            <a:off x="10789920" y="6446520"/>
            <a:ext cx="822960" cy="201168"/>
          </a:xfrm>
          <a:prstGeom prst="rect">
            <a:avLst/>
          </a:prstGeom>
          <a:noFill/>
        </p:spPr>
        <p:txBody>
          <a:bodyPr wrap="none" lIns="27432" rIns="27432" tIns="18288" bIns="18288">
            <a:spAutoFit/>
          </a:bodyPr>
          <a:lstStyle/>
          <a:p>
            <a:pPr algn="r"/>
            <a:r>
              <a:rPr sz="800" b="0">
                <a:solidFill>
                  <a:srgbClr val="5B636E"/>
                </a:solidFill>
                <a:latin typeface="Hiragino Sans"/>
              </a:rPr>
              <a:t>3</a:t>
            </a:r>
          </a:p>
        </p:txBody>
      </p:sp>
      <p:sp>
        <p:nvSpPr>
          <p:cNvPr id="7" name="TextBox 6"/>
          <p:cNvSpPr txBox="1"/>
          <p:nvPr/>
        </p:nvSpPr>
        <p:spPr>
          <a:xfrm>
            <a:off x="822960" y="1143000"/>
            <a:ext cx="4754880" cy="4389120"/>
          </a:xfrm>
          <a:prstGeom prst="rect">
            <a:avLst/>
          </a:prstGeom>
          <a:noFill/>
        </p:spPr>
        <p:txBody>
          <a:bodyPr wrap="square" lIns="45720" rIns="45720" tIns="18288" bIns="18288">
            <a:spAutoFit/>
          </a:bodyPr>
          <a:lstStyle/>
          <a:p>
            <a:pPr marL="228600" indent="-171450">
              <a:spcAft>
                <a:spcPts val="700"/>
              </a:spcAft>
              <a:defRPr sz="1800">
                <a:solidFill>
                  <a:srgbClr val="282D34"/>
                </a:solidFill>
                <a:latin typeface="Hiragino Sans"/>
              </a:defRPr>
            </a:pPr>
            <a:r>
              <a:t>ハンドリングラボでは多様なワークを実際に吸着・把持して確認している</a:t>
            </a:r>
          </a:p>
          <a:p>
            <a:pPr marL="228600" indent="-171450">
              <a:spcAft>
                <a:spcPts val="700"/>
              </a:spcAft>
              <a:defRPr sz="1800">
                <a:solidFill>
                  <a:srgbClr val="282D34"/>
                </a:solidFill>
                <a:latin typeface="Hiragino Sans"/>
              </a:defRPr>
            </a:pPr>
            <a:r>
              <a:t>紙、袋入り製品、食品、形状が不安定なものなど、条件は案件ごとに異なる</a:t>
            </a:r>
          </a:p>
          <a:p>
            <a:pPr marL="228600" indent="-171450">
              <a:spcAft>
                <a:spcPts val="700"/>
              </a:spcAft>
              <a:defRPr sz="1800">
                <a:solidFill>
                  <a:srgbClr val="282D34"/>
                </a:solidFill>
                <a:latin typeface="Hiragino Sans"/>
              </a:defRPr>
            </a:pPr>
            <a:r>
              <a:t>担当者が経験的に候補製品や条件を選び、実験しながら確認している</a:t>
            </a:r>
          </a:p>
          <a:p>
            <a:pPr marL="228600" indent="-171450">
              <a:spcAft>
                <a:spcPts val="700"/>
              </a:spcAft>
              <a:defRPr sz="1800">
                <a:solidFill>
                  <a:srgbClr val="282D34"/>
                </a:solidFill>
                <a:latin typeface="Hiragino Sans"/>
              </a:defRPr>
            </a:pPr>
            <a:r>
              <a:t>本来はExcel等に結果を記録するが、入力負荷が高く書ききれないことがある</a:t>
            </a:r>
          </a:p>
          <a:p>
            <a:pPr marL="228600" indent="-171450">
              <a:spcAft>
                <a:spcPts val="700"/>
              </a:spcAft>
              <a:defRPr sz="1800">
                <a:solidFill>
                  <a:srgbClr val="282D34"/>
                </a:solidFill>
                <a:latin typeface="Hiragino Sans"/>
              </a:defRPr>
            </a:pPr>
            <a:r>
              <a:t>動画を撮影して顧客へメール送付し、そのまま終わるケースがある</a:t>
            </a:r>
          </a:p>
        </p:txBody>
      </p:sp>
      <p:sp>
        <p:nvSpPr>
          <p:cNvPr id="8" name="Rounded Rectangle 7"/>
          <p:cNvSpPr/>
          <p:nvPr/>
        </p:nvSpPr>
        <p:spPr>
          <a:xfrm>
            <a:off x="6172200" y="1920240"/>
            <a:ext cx="914400" cy="777240"/>
          </a:xfrm>
          <a:prstGeom prst="roundRect">
            <a:avLst>
              <a:gd name="adj" fmla="val 8000"/>
            </a:avLst>
          </a:prstGeom>
          <a:solidFill>
            <a:srgbClr val="FFFFFF"/>
          </a:solidFill>
          <a:ln>
            <a:solidFill>
              <a:srgbClr val="1C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2167128"/>
            <a:ext cx="822960" cy="201168"/>
          </a:xfrm>
          <a:prstGeom prst="rect">
            <a:avLst/>
          </a:prstGeom>
          <a:noFill/>
        </p:spPr>
        <p:txBody>
          <a:bodyPr wrap="none" lIns="27432" rIns="27432" tIns="18288" bIns="18288">
            <a:spAutoFit/>
          </a:bodyPr>
          <a:lstStyle/>
          <a:p>
            <a:pPr algn="ctr"/>
            <a:r>
              <a:rPr sz="1000" b="1">
                <a:solidFill>
                  <a:srgbClr val="1C5BAA"/>
                </a:solidFill>
                <a:latin typeface="Hiragino Sans"/>
              </a:rPr>
              <a:t>実証依頼</a:t>
            </a:r>
          </a:p>
        </p:txBody>
      </p:sp>
      <p:sp>
        <p:nvSpPr>
          <p:cNvPr id="10" name="TextBox 9"/>
          <p:cNvSpPr txBox="1"/>
          <p:nvPr/>
        </p:nvSpPr>
        <p:spPr>
          <a:xfrm>
            <a:off x="7068312" y="2148840"/>
            <a:ext cx="219456" cy="219456"/>
          </a:xfrm>
          <a:prstGeom prst="rect">
            <a:avLst/>
          </a:prstGeom>
          <a:noFill/>
        </p:spPr>
        <p:txBody>
          <a:bodyPr wrap="none" lIns="27432" rIns="27432" tIns="18288" bIns="18288">
            <a:spAutoFit/>
          </a:bodyPr>
          <a:lstStyle/>
          <a:p>
            <a:pPr algn="ctr"/>
            <a:r>
              <a:rPr sz="1600" b="1">
                <a:solidFill>
                  <a:srgbClr val="5B636E"/>
                </a:solidFill>
                <a:latin typeface="Hiragino Sans"/>
              </a:rPr>
              <a:t>→</a:t>
            </a:r>
          </a:p>
        </p:txBody>
      </p:sp>
      <p:sp>
        <p:nvSpPr>
          <p:cNvPr id="11" name="Rounded Rectangle 10"/>
          <p:cNvSpPr/>
          <p:nvPr/>
        </p:nvSpPr>
        <p:spPr>
          <a:xfrm>
            <a:off x="7232904" y="1920240"/>
            <a:ext cx="914400" cy="777240"/>
          </a:xfrm>
          <a:prstGeom prst="roundRect">
            <a:avLst>
              <a:gd name="adj" fmla="val 8000"/>
            </a:avLst>
          </a:prstGeom>
          <a:solidFill>
            <a:srgbClr val="FFFFFF"/>
          </a:solidFill>
          <a:ln>
            <a:solidFill>
              <a:srgbClr val="B87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78624" y="2167128"/>
            <a:ext cx="822960" cy="201168"/>
          </a:xfrm>
          <a:prstGeom prst="rect">
            <a:avLst/>
          </a:prstGeom>
          <a:noFill/>
        </p:spPr>
        <p:txBody>
          <a:bodyPr wrap="none" lIns="27432" rIns="27432" tIns="18288" bIns="18288">
            <a:spAutoFit/>
          </a:bodyPr>
          <a:lstStyle/>
          <a:p>
            <a:pPr algn="ctr"/>
            <a:r>
              <a:rPr sz="1000" b="1">
                <a:solidFill>
                  <a:srgbClr val="B87818"/>
                </a:solidFill>
                <a:latin typeface="Hiragino Sans"/>
              </a:rPr>
              <a:t>候補選定</a:t>
            </a:r>
          </a:p>
        </p:txBody>
      </p:sp>
      <p:sp>
        <p:nvSpPr>
          <p:cNvPr id="13" name="TextBox 12"/>
          <p:cNvSpPr txBox="1"/>
          <p:nvPr/>
        </p:nvSpPr>
        <p:spPr>
          <a:xfrm>
            <a:off x="8129016" y="2148840"/>
            <a:ext cx="219456" cy="219456"/>
          </a:xfrm>
          <a:prstGeom prst="rect">
            <a:avLst/>
          </a:prstGeom>
          <a:noFill/>
        </p:spPr>
        <p:txBody>
          <a:bodyPr wrap="none" lIns="27432" rIns="27432" tIns="18288" bIns="18288">
            <a:spAutoFit/>
          </a:bodyPr>
          <a:lstStyle/>
          <a:p>
            <a:pPr algn="ctr"/>
            <a:r>
              <a:rPr sz="1600" b="1">
                <a:solidFill>
                  <a:srgbClr val="5B636E"/>
                </a:solidFill>
                <a:latin typeface="Hiragino Sans"/>
              </a:rPr>
              <a:t>→</a:t>
            </a:r>
          </a:p>
        </p:txBody>
      </p:sp>
      <p:sp>
        <p:nvSpPr>
          <p:cNvPr id="14" name="Rounded Rectangle 13"/>
          <p:cNvSpPr/>
          <p:nvPr/>
        </p:nvSpPr>
        <p:spPr>
          <a:xfrm>
            <a:off x="8293608" y="1920240"/>
            <a:ext cx="914400" cy="777240"/>
          </a:xfrm>
          <a:prstGeom prst="roundRect">
            <a:avLst>
              <a:gd name="adj" fmla="val 8000"/>
            </a:avLst>
          </a:prstGeom>
          <a:solidFill>
            <a:srgbClr val="FFFFFF"/>
          </a:solidFill>
          <a:ln>
            <a:solidFill>
              <a:srgbClr val="B87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8" y="2167128"/>
            <a:ext cx="822960" cy="201168"/>
          </a:xfrm>
          <a:prstGeom prst="rect">
            <a:avLst/>
          </a:prstGeom>
          <a:noFill/>
        </p:spPr>
        <p:txBody>
          <a:bodyPr wrap="none" lIns="27432" rIns="27432" tIns="18288" bIns="18288">
            <a:spAutoFit/>
          </a:bodyPr>
          <a:lstStyle/>
          <a:p>
            <a:pPr algn="ctr"/>
            <a:r>
              <a:rPr sz="1000" b="1">
                <a:solidFill>
                  <a:srgbClr val="B87818"/>
                </a:solidFill>
                <a:latin typeface="Hiragino Sans"/>
              </a:rPr>
              <a:t>実験/撮影</a:t>
            </a:r>
          </a:p>
        </p:txBody>
      </p:sp>
      <p:sp>
        <p:nvSpPr>
          <p:cNvPr id="16" name="TextBox 15"/>
          <p:cNvSpPr txBox="1"/>
          <p:nvPr/>
        </p:nvSpPr>
        <p:spPr>
          <a:xfrm>
            <a:off x="9189720" y="2148840"/>
            <a:ext cx="219456" cy="219456"/>
          </a:xfrm>
          <a:prstGeom prst="rect">
            <a:avLst/>
          </a:prstGeom>
          <a:noFill/>
        </p:spPr>
        <p:txBody>
          <a:bodyPr wrap="none" lIns="27432" rIns="27432" tIns="18288" bIns="18288">
            <a:spAutoFit/>
          </a:bodyPr>
          <a:lstStyle/>
          <a:p>
            <a:pPr algn="ctr"/>
            <a:r>
              <a:rPr sz="1600" b="1">
                <a:solidFill>
                  <a:srgbClr val="5B636E"/>
                </a:solidFill>
                <a:latin typeface="Hiragino Sans"/>
              </a:rPr>
              <a:t>→</a:t>
            </a:r>
          </a:p>
        </p:txBody>
      </p:sp>
      <p:sp>
        <p:nvSpPr>
          <p:cNvPr id="17" name="Rounded Rectangle 16"/>
          <p:cNvSpPr/>
          <p:nvPr/>
        </p:nvSpPr>
        <p:spPr>
          <a:xfrm>
            <a:off x="9354312" y="1920240"/>
            <a:ext cx="914400" cy="777240"/>
          </a:xfrm>
          <a:prstGeom prst="roundRect">
            <a:avLst>
              <a:gd name="adj" fmla="val 8000"/>
            </a:avLst>
          </a:prstGeom>
          <a:solidFill>
            <a:srgbClr val="FFFFFF"/>
          </a:solidFill>
          <a:ln>
            <a:solidFill>
              <a:srgbClr val="1484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00032" y="2167128"/>
            <a:ext cx="822960" cy="201168"/>
          </a:xfrm>
          <a:prstGeom prst="rect">
            <a:avLst/>
          </a:prstGeom>
          <a:noFill/>
        </p:spPr>
        <p:txBody>
          <a:bodyPr wrap="none" lIns="27432" rIns="27432" tIns="18288" bIns="18288">
            <a:spAutoFit/>
          </a:bodyPr>
          <a:lstStyle/>
          <a:p>
            <a:pPr algn="ctr"/>
            <a:r>
              <a:rPr sz="1000" b="1">
                <a:solidFill>
                  <a:srgbClr val="148454"/>
                </a:solidFill>
                <a:latin typeface="Hiragino Sans"/>
              </a:rPr>
              <a:t>メール報告</a:t>
            </a:r>
          </a:p>
        </p:txBody>
      </p:sp>
      <p:sp>
        <p:nvSpPr>
          <p:cNvPr id="19" name="TextBox 18"/>
          <p:cNvSpPr txBox="1"/>
          <p:nvPr/>
        </p:nvSpPr>
        <p:spPr>
          <a:xfrm>
            <a:off x="10250424" y="2148840"/>
            <a:ext cx="219456" cy="219456"/>
          </a:xfrm>
          <a:prstGeom prst="rect">
            <a:avLst/>
          </a:prstGeom>
          <a:noFill/>
        </p:spPr>
        <p:txBody>
          <a:bodyPr wrap="none" lIns="27432" rIns="27432" tIns="18288" bIns="18288">
            <a:spAutoFit/>
          </a:bodyPr>
          <a:lstStyle/>
          <a:p>
            <a:pPr algn="ctr"/>
            <a:r>
              <a:rPr sz="1600" b="1">
                <a:solidFill>
                  <a:srgbClr val="5B636E"/>
                </a:solidFill>
                <a:latin typeface="Hiragino Sans"/>
              </a:rPr>
              <a:t>→</a:t>
            </a:r>
          </a:p>
        </p:txBody>
      </p:sp>
      <p:sp>
        <p:nvSpPr>
          <p:cNvPr id="20" name="Rounded Rectangle 19"/>
          <p:cNvSpPr/>
          <p:nvPr/>
        </p:nvSpPr>
        <p:spPr>
          <a:xfrm>
            <a:off x="10415016" y="1920240"/>
            <a:ext cx="914400" cy="777240"/>
          </a:xfrm>
          <a:prstGeom prst="roundRect">
            <a:avLst>
              <a:gd name="adj" fmla="val 8000"/>
            </a:avLst>
          </a:prstGeom>
          <a:solidFill>
            <a:srgbClr val="FFFFFF"/>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60736" y="2167128"/>
            <a:ext cx="822960" cy="201168"/>
          </a:xfrm>
          <a:prstGeom prst="rect">
            <a:avLst/>
          </a:prstGeom>
          <a:noFill/>
        </p:spPr>
        <p:txBody>
          <a:bodyPr wrap="none" lIns="27432" rIns="27432" tIns="18288" bIns="18288">
            <a:spAutoFit/>
          </a:bodyPr>
          <a:lstStyle/>
          <a:p>
            <a:pPr algn="ctr"/>
            <a:r>
              <a:rPr sz="1000" b="1">
                <a:solidFill>
                  <a:srgbClr val="C00000"/>
                </a:solidFill>
                <a:latin typeface="Hiragino Sans"/>
              </a:rPr>
              <a:t>記録不足</a:t>
            </a:r>
          </a:p>
        </p:txBody>
      </p:sp>
      <p:sp>
        <p:nvSpPr>
          <p:cNvPr id="22" name="TextBox 21"/>
          <p:cNvSpPr txBox="1"/>
          <p:nvPr/>
        </p:nvSpPr>
        <p:spPr>
          <a:xfrm>
            <a:off x="6263640" y="3337560"/>
            <a:ext cx="4754880" cy="914400"/>
          </a:xfrm>
          <a:prstGeom prst="rect">
            <a:avLst/>
          </a:prstGeom>
          <a:noFill/>
        </p:spPr>
        <p:txBody>
          <a:bodyPr wrap="none" lIns="27432" rIns="27432" tIns="18288" bIns="18288">
            <a:spAutoFit/>
          </a:bodyPr>
          <a:lstStyle/>
          <a:p>
            <a:r>
              <a:rPr sz="2200" b="1">
                <a:solidFill>
                  <a:srgbClr val="282D34"/>
                </a:solidFill>
                <a:latin typeface="Hiragino Sans"/>
              </a:rPr>
              <a:t>課題の本質は、実験そのものではなく「結果・条件・判断理由」が構造化データとして残らないこと。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9875520" cy="411480"/>
          </a:xfrm>
          <a:prstGeom prst="rect">
            <a:avLst/>
          </a:prstGeom>
          <a:noFill/>
        </p:spPr>
        <p:txBody>
          <a:bodyPr wrap="none" lIns="27432" rIns="27432" tIns="18288" bIns="18288">
            <a:spAutoFit/>
          </a:bodyPr>
          <a:lstStyle/>
          <a:p>
            <a:r>
              <a:rPr sz="2400" b="1">
                <a:solidFill>
                  <a:srgbClr val="282D34"/>
                </a:solidFill>
                <a:latin typeface="Hiragino Sans"/>
              </a:rPr>
              <a:t>提案: まずワーク実証の記録・レポート化をAI化する</a:t>
            </a:r>
          </a:p>
        </p:txBody>
      </p:sp>
      <p:sp>
        <p:nvSpPr>
          <p:cNvPr id="3" name="TextBox 2"/>
          <p:cNvSpPr txBox="1"/>
          <p:nvPr/>
        </p:nvSpPr>
        <p:spPr>
          <a:xfrm>
            <a:off x="10058400" y="283464"/>
            <a:ext cx="1554480" cy="320040"/>
          </a:xfrm>
          <a:prstGeom prst="rect">
            <a:avLst/>
          </a:prstGeom>
          <a:noFill/>
        </p:spPr>
        <p:txBody>
          <a:bodyPr wrap="none" lIns="27432" rIns="27432" tIns="18288" bIns="18288">
            <a:spAutoFit/>
          </a:bodyPr>
          <a:lstStyle/>
          <a:p>
            <a:pPr algn="r"/>
            <a:r>
              <a:rPr sz="1000" b="1">
                <a:solidFill>
                  <a:srgbClr val="5B636E"/>
                </a:solidFill>
                <a:latin typeface="Hiragino Sans"/>
              </a:rPr>
              <a:t>Proposal</a:t>
            </a:r>
          </a:p>
        </p:txBody>
      </p:sp>
      <p:sp>
        <p:nvSpPr>
          <p:cNvPr id="4" name="Rectangle 3"/>
          <p:cNvSpPr/>
          <p:nvPr/>
        </p:nvSpPr>
        <p:spPr>
          <a:xfrm>
            <a:off x="502920" y="758952"/>
            <a:ext cx="11155680" cy="18288"/>
          </a:xfrm>
          <a:prstGeom prst="rect">
            <a:avLst/>
          </a:prstGeom>
          <a:solidFill>
            <a:srgbClr val="DA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4572000" cy="201168"/>
          </a:xfrm>
          <a:prstGeom prst="rect">
            <a:avLst/>
          </a:prstGeom>
          <a:noFill/>
        </p:spPr>
        <p:txBody>
          <a:bodyPr wrap="none" lIns="27432" rIns="27432" tIns="18288" bIns="18288">
            <a:spAutoFit/>
          </a:bodyPr>
          <a:lstStyle/>
          <a:p>
            <a:r>
              <a:rPr sz="800" b="0">
                <a:solidFill>
                  <a:srgbClr val="5B636E"/>
                </a:solidFill>
                <a:latin typeface="Hiragino Sans"/>
              </a:rPr>
              <a:t>SMC様向け ワーク実証記録AI化 初期提案</a:t>
            </a:r>
          </a:p>
        </p:txBody>
      </p:sp>
      <p:sp>
        <p:nvSpPr>
          <p:cNvPr id="6" name="TextBox 5"/>
          <p:cNvSpPr txBox="1"/>
          <p:nvPr/>
        </p:nvSpPr>
        <p:spPr>
          <a:xfrm>
            <a:off x="10789920" y="6446520"/>
            <a:ext cx="822960" cy="201168"/>
          </a:xfrm>
          <a:prstGeom prst="rect">
            <a:avLst/>
          </a:prstGeom>
          <a:noFill/>
        </p:spPr>
        <p:txBody>
          <a:bodyPr wrap="none" lIns="27432" rIns="27432" tIns="18288" bIns="18288">
            <a:spAutoFit/>
          </a:bodyPr>
          <a:lstStyle/>
          <a:p>
            <a:pPr algn="r"/>
            <a:r>
              <a:rPr sz="800" b="0">
                <a:solidFill>
                  <a:srgbClr val="5B636E"/>
                </a:solidFill>
                <a:latin typeface="Hiragino Sans"/>
              </a:rPr>
              <a:t>4</a:t>
            </a:r>
          </a:p>
        </p:txBody>
      </p:sp>
      <p:sp>
        <p:nvSpPr>
          <p:cNvPr id="7" name="TextBox 6"/>
          <p:cNvSpPr txBox="1"/>
          <p:nvPr/>
        </p:nvSpPr>
        <p:spPr>
          <a:xfrm>
            <a:off x="731520" y="1051560"/>
            <a:ext cx="10698480" cy="502920"/>
          </a:xfrm>
          <a:prstGeom prst="rect">
            <a:avLst/>
          </a:prstGeom>
          <a:noFill/>
        </p:spPr>
        <p:txBody>
          <a:bodyPr wrap="none" lIns="27432" rIns="27432" tIns="18288" bIns="18288">
            <a:spAutoFit/>
          </a:bodyPr>
          <a:lstStyle/>
          <a:p>
            <a:r>
              <a:rPr sz="2300" b="1">
                <a:solidFill>
                  <a:srgbClr val="282D34"/>
                </a:solidFill>
                <a:latin typeface="Hiragino Sans"/>
              </a:rPr>
              <a:t>マーケットプレイスを先に作るのではなく、将来の選定支援に必要な実証データ基盤を先に作る。</a:t>
            </a:r>
          </a:p>
        </p:txBody>
      </p:sp>
      <p:sp>
        <p:nvSpPr>
          <p:cNvPr id="8" name="Rounded Rectangle 7"/>
          <p:cNvSpPr/>
          <p:nvPr/>
        </p:nvSpPr>
        <p:spPr>
          <a:xfrm>
            <a:off x="822960" y="1874519"/>
            <a:ext cx="5074920" cy="3154680"/>
          </a:xfrm>
          <a:prstGeom prst="roundRect">
            <a:avLst>
              <a:gd name="adj" fmla="val 5000"/>
            </a:avLst>
          </a:prstGeom>
          <a:solidFill>
            <a:srgbClr val="FFFFFF"/>
          </a:solidFill>
          <a:ln>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1874519"/>
            <a:ext cx="73152" cy="31546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029967"/>
            <a:ext cx="4727448" cy="320040"/>
          </a:xfrm>
          <a:prstGeom prst="rect">
            <a:avLst/>
          </a:prstGeom>
          <a:noFill/>
        </p:spPr>
        <p:txBody>
          <a:bodyPr wrap="none" lIns="27432" rIns="27432" tIns="18288" bIns="18288">
            <a:spAutoFit/>
          </a:bodyPr>
          <a:lstStyle/>
          <a:p>
            <a:r>
              <a:rPr sz="1800" b="1">
                <a:solidFill>
                  <a:srgbClr val="282D34"/>
                </a:solidFill>
                <a:latin typeface="Hiragino Sans"/>
              </a:rPr>
              <a:t>Before: 現状</a:t>
            </a:r>
          </a:p>
        </p:txBody>
      </p:sp>
      <p:sp>
        <p:nvSpPr>
          <p:cNvPr id="11" name="TextBox 10"/>
          <p:cNvSpPr txBox="1"/>
          <p:nvPr/>
        </p:nvSpPr>
        <p:spPr>
          <a:xfrm>
            <a:off x="1024128" y="2496312"/>
            <a:ext cx="4727448" cy="2404872"/>
          </a:xfrm>
          <a:prstGeom prst="rect">
            <a:avLst/>
          </a:prstGeom>
          <a:noFill/>
        </p:spPr>
        <p:txBody>
          <a:bodyPr wrap="square" lIns="45720" rIns="45720" tIns="18288" bIns="18288">
            <a:spAutoFit/>
          </a:bodyPr>
          <a:lstStyle/>
          <a:p>
            <a:pPr>
              <a:spcAft>
                <a:spcPts val="700"/>
              </a:spcAft>
              <a:defRPr sz="1600">
                <a:solidFill>
                  <a:srgbClr val="5B636E"/>
                </a:solidFill>
                <a:latin typeface="Hiragino Sans"/>
              </a:defRPr>
            </a:pPr>
            <a:r>
              <a:t>実験中は動画・メモが中心</a:t>
            </a:r>
          </a:p>
          <a:p>
            <a:pPr>
              <a:spcAft>
                <a:spcPts val="700"/>
              </a:spcAft>
              <a:defRPr sz="1600">
                <a:solidFill>
                  <a:srgbClr val="5B636E"/>
                </a:solidFill>
                <a:latin typeface="Hiragino Sans"/>
              </a:defRPr>
            </a:pPr>
            <a:r>
              <a:t>Excel入力は後回しになりやすい</a:t>
            </a:r>
          </a:p>
          <a:p>
            <a:pPr>
              <a:spcAft>
                <a:spcPts val="700"/>
              </a:spcAft>
              <a:defRPr sz="1600">
                <a:solidFill>
                  <a:srgbClr val="5B636E"/>
                </a:solidFill>
                <a:latin typeface="Hiragino Sans"/>
              </a:defRPr>
            </a:pPr>
            <a:r>
              <a:t>結果が担当者の記憶やメールに分散</a:t>
            </a:r>
          </a:p>
          <a:p>
            <a:pPr>
              <a:spcAft>
                <a:spcPts val="700"/>
              </a:spcAft>
              <a:defRPr sz="1600">
                <a:solidFill>
                  <a:srgbClr val="5B636E"/>
                </a:solidFill>
                <a:latin typeface="Hiragino Sans"/>
              </a:defRPr>
            </a:pPr>
            <a:r>
              <a:t>類似ワークの過去実績を探しにくい</a:t>
            </a:r>
          </a:p>
        </p:txBody>
      </p:sp>
      <p:sp>
        <p:nvSpPr>
          <p:cNvPr id="12" name="Rounded Rectangle 11"/>
          <p:cNvSpPr/>
          <p:nvPr/>
        </p:nvSpPr>
        <p:spPr>
          <a:xfrm>
            <a:off x="6309360" y="1874519"/>
            <a:ext cx="5074920" cy="3154680"/>
          </a:xfrm>
          <a:prstGeom prst="roundRect">
            <a:avLst>
              <a:gd name="adj" fmla="val 5000"/>
            </a:avLst>
          </a:prstGeom>
          <a:solidFill>
            <a:srgbClr val="FFFFFF"/>
          </a:solidFill>
          <a:ln>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874519"/>
            <a:ext cx="73152" cy="3154680"/>
          </a:xfrm>
          <a:prstGeom prst="rect">
            <a:avLst/>
          </a:prstGeom>
          <a:solidFill>
            <a:srgbClr val="148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0528" y="2029967"/>
            <a:ext cx="4727448" cy="320040"/>
          </a:xfrm>
          <a:prstGeom prst="rect">
            <a:avLst/>
          </a:prstGeom>
          <a:noFill/>
        </p:spPr>
        <p:txBody>
          <a:bodyPr wrap="none" lIns="27432" rIns="27432" tIns="18288" bIns="18288">
            <a:spAutoFit/>
          </a:bodyPr>
          <a:lstStyle/>
          <a:p>
            <a:r>
              <a:rPr sz="1800" b="1">
                <a:solidFill>
                  <a:srgbClr val="282D34"/>
                </a:solidFill>
                <a:latin typeface="Hiragino Sans"/>
              </a:rPr>
              <a:t>After: AI化後</a:t>
            </a:r>
          </a:p>
        </p:txBody>
      </p:sp>
      <p:sp>
        <p:nvSpPr>
          <p:cNvPr id="15" name="TextBox 14"/>
          <p:cNvSpPr txBox="1"/>
          <p:nvPr/>
        </p:nvSpPr>
        <p:spPr>
          <a:xfrm>
            <a:off x="6510528" y="2496312"/>
            <a:ext cx="4727448" cy="2404872"/>
          </a:xfrm>
          <a:prstGeom prst="rect">
            <a:avLst/>
          </a:prstGeom>
          <a:noFill/>
        </p:spPr>
        <p:txBody>
          <a:bodyPr wrap="square" lIns="45720" rIns="45720" tIns="18288" bIns="18288">
            <a:spAutoFit/>
          </a:bodyPr>
          <a:lstStyle/>
          <a:p>
            <a:pPr>
              <a:spcAft>
                <a:spcPts val="700"/>
              </a:spcAft>
              <a:defRPr sz="1600">
                <a:solidFill>
                  <a:srgbClr val="5B636E"/>
                </a:solidFill>
                <a:latin typeface="Hiragino Sans"/>
              </a:defRPr>
            </a:pPr>
            <a:r>
              <a:t>スマホで撮影しながら音声メモ</a:t>
            </a:r>
          </a:p>
          <a:p>
            <a:pPr>
              <a:spcAft>
                <a:spcPts val="700"/>
              </a:spcAft>
              <a:defRPr sz="1600">
                <a:solidFill>
                  <a:srgbClr val="5B636E"/>
                </a:solidFill>
                <a:latin typeface="Hiragino Sans"/>
              </a:defRPr>
            </a:pPr>
            <a:r>
              <a:t>AIが実証条件・結果を項目抽出</a:t>
            </a:r>
          </a:p>
          <a:p>
            <a:pPr>
              <a:spcAft>
                <a:spcPts val="700"/>
              </a:spcAft>
              <a:defRPr sz="1600">
                <a:solidFill>
                  <a:srgbClr val="5B636E"/>
                </a:solidFill>
                <a:latin typeface="Hiragino Sans"/>
              </a:defRPr>
            </a:pPr>
            <a:r>
              <a:t>レポート/Excel下書きを自動生成</a:t>
            </a:r>
          </a:p>
          <a:p>
            <a:pPr>
              <a:spcAft>
                <a:spcPts val="700"/>
              </a:spcAft>
              <a:defRPr sz="1600">
                <a:solidFill>
                  <a:srgbClr val="5B636E"/>
                </a:solidFill>
                <a:latin typeface="Hiragino Sans"/>
              </a:defRPr>
            </a:pPr>
            <a:r>
              <a:t>実証結果がDBとして蓄積される</a:t>
            </a:r>
          </a:p>
        </p:txBody>
      </p:sp>
      <p:sp>
        <p:nvSpPr>
          <p:cNvPr id="16" name="TextBox 15"/>
          <p:cNvSpPr txBox="1"/>
          <p:nvPr/>
        </p:nvSpPr>
        <p:spPr>
          <a:xfrm>
            <a:off x="1051560" y="5532120"/>
            <a:ext cx="10058400" cy="411480"/>
          </a:xfrm>
          <a:prstGeom prst="rect">
            <a:avLst/>
          </a:prstGeom>
          <a:noFill/>
        </p:spPr>
        <p:txBody>
          <a:bodyPr wrap="none" lIns="27432" rIns="27432" tIns="18288" bIns="18288">
            <a:spAutoFit/>
          </a:bodyPr>
          <a:lstStyle/>
          <a:p>
            <a:pPr algn="ctr"/>
            <a:r>
              <a:rPr sz="2100" b="1">
                <a:solidFill>
                  <a:srgbClr val="C00000"/>
                </a:solidFill>
                <a:latin typeface="Hiragino Sans"/>
              </a:rPr>
              <a:t>AIの役割は「最終判断」ではなく、現場記録の下書き化・構造化・検索可能化。</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9875520" cy="411480"/>
          </a:xfrm>
          <a:prstGeom prst="rect">
            <a:avLst/>
          </a:prstGeom>
          <a:noFill/>
        </p:spPr>
        <p:txBody>
          <a:bodyPr wrap="none" lIns="27432" rIns="27432" tIns="18288" bIns="18288">
            <a:spAutoFit/>
          </a:bodyPr>
          <a:lstStyle/>
          <a:p>
            <a:r>
              <a:rPr sz="2400" b="1">
                <a:solidFill>
                  <a:srgbClr val="282D34"/>
                </a:solidFill>
                <a:latin typeface="Hiragino Sans"/>
              </a:rPr>
              <a:t>Phase 1: 実証記録AIの業務イメージ</a:t>
            </a:r>
          </a:p>
        </p:txBody>
      </p:sp>
      <p:sp>
        <p:nvSpPr>
          <p:cNvPr id="3" name="TextBox 2"/>
          <p:cNvSpPr txBox="1"/>
          <p:nvPr/>
        </p:nvSpPr>
        <p:spPr>
          <a:xfrm>
            <a:off x="10058400" y="283464"/>
            <a:ext cx="1554480" cy="320040"/>
          </a:xfrm>
          <a:prstGeom prst="rect">
            <a:avLst/>
          </a:prstGeom>
          <a:noFill/>
        </p:spPr>
        <p:txBody>
          <a:bodyPr wrap="none" lIns="27432" rIns="27432" tIns="18288" bIns="18288">
            <a:spAutoFit/>
          </a:bodyPr>
          <a:lstStyle/>
          <a:p>
            <a:pPr algn="r"/>
            <a:r>
              <a:rPr sz="1000" b="1">
                <a:solidFill>
                  <a:srgbClr val="5B636E"/>
                </a:solidFill>
                <a:latin typeface="Hiragino Sans"/>
              </a:rPr>
              <a:t>Phase 1</a:t>
            </a:r>
          </a:p>
        </p:txBody>
      </p:sp>
      <p:sp>
        <p:nvSpPr>
          <p:cNvPr id="4" name="Rectangle 3"/>
          <p:cNvSpPr/>
          <p:nvPr/>
        </p:nvSpPr>
        <p:spPr>
          <a:xfrm>
            <a:off x="502920" y="758952"/>
            <a:ext cx="11155680" cy="18288"/>
          </a:xfrm>
          <a:prstGeom prst="rect">
            <a:avLst/>
          </a:prstGeom>
          <a:solidFill>
            <a:srgbClr val="DA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4572000" cy="201168"/>
          </a:xfrm>
          <a:prstGeom prst="rect">
            <a:avLst/>
          </a:prstGeom>
          <a:noFill/>
        </p:spPr>
        <p:txBody>
          <a:bodyPr wrap="none" lIns="27432" rIns="27432" tIns="18288" bIns="18288">
            <a:spAutoFit/>
          </a:bodyPr>
          <a:lstStyle/>
          <a:p>
            <a:r>
              <a:rPr sz="800" b="0">
                <a:solidFill>
                  <a:srgbClr val="5B636E"/>
                </a:solidFill>
                <a:latin typeface="Hiragino Sans"/>
              </a:rPr>
              <a:t>SMC様向け ワーク実証記録AI化 初期提案</a:t>
            </a:r>
          </a:p>
        </p:txBody>
      </p:sp>
      <p:sp>
        <p:nvSpPr>
          <p:cNvPr id="6" name="TextBox 5"/>
          <p:cNvSpPr txBox="1"/>
          <p:nvPr/>
        </p:nvSpPr>
        <p:spPr>
          <a:xfrm>
            <a:off x="10789920" y="6446520"/>
            <a:ext cx="822960" cy="201168"/>
          </a:xfrm>
          <a:prstGeom prst="rect">
            <a:avLst/>
          </a:prstGeom>
          <a:noFill/>
        </p:spPr>
        <p:txBody>
          <a:bodyPr wrap="none" lIns="27432" rIns="27432" tIns="18288" bIns="18288">
            <a:spAutoFit/>
          </a:bodyPr>
          <a:lstStyle/>
          <a:p>
            <a:pPr algn="r"/>
            <a:r>
              <a:rPr sz="800" b="0">
                <a:solidFill>
                  <a:srgbClr val="5B636E"/>
                </a:solidFill>
                <a:latin typeface="Hiragino Sans"/>
              </a:rPr>
              <a:t>5</a:t>
            </a:r>
          </a:p>
        </p:txBody>
      </p:sp>
      <p:sp>
        <p:nvSpPr>
          <p:cNvPr id="7" name="Rounded Rectangle 6"/>
          <p:cNvSpPr/>
          <p:nvPr/>
        </p:nvSpPr>
        <p:spPr>
          <a:xfrm>
            <a:off x="685800" y="1417320"/>
            <a:ext cx="1874519" cy="2011680"/>
          </a:xfrm>
          <a:prstGeom prst="roundRect">
            <a:avLst>
              <a:gd name="adj" fmla="val 6000"/>
            </a:avLst>
          </a:prstGeom>
          <a:solidFill>
            <a:srgbClr val="FFFFFF"/>
          </a:solidFill>
          <a:ln>
            <a:solidFill>
              <a:srgbClr val="1C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91640"/>
            <a:ext cx="1600200" cy="274320"/>
          </a:xfrm>
          <a:prstGeom prst="rect">
            <a:avLst/>
          </a:prstGeom>
          <a:noFill/>
        </p:spPr>
        <p:txBody>
          <a:bodyPr wrap="none" lIns="27432" rIns="27432" tIns="18288" bIns="18288">
            <a:spAutoFit/>
          </a:bodyPr>
          <a:lstStyle/>
          <a:p>
            <a:pPr algn="ctr"/>
            <a:r>
              <a:rPr sz="1600" b="1">
                <a:solidFill>
                  <a:srgbClr val="1C5BAA"/>
                </a:solidFill>
                <a:latin typeface="Hiragino Sans"/>
              </a:rPr>
              <a:t>1 撮影</a:t>
            </a:r>
          </a:p>
        </p:txBody>
      </p:sp>
      <p:sp>
        <p:nvSpPr>
          <p:cNvPr id="9" name="TextBox 8"/>
          <p:cNvSpPr txBox="1"/>
          <p:nvPr/>
        </p:nvSpPr>
        <p:spPr>
          <a:xfrm>
            <a:off x="868680" y="2240280"/>
            <a:ext cx="1508760" cy="731520"/>
          </a:xfrm>
          <a:prstGeom prst="rect">
            <a:avLst/>
          </a:prstGeom>
          <a:noFill/>
        </p:spPr>
        <p:txBody>
          <a:bodyPr wrap="none" lIns="27432" rIns="27432" tIns="18288" bIns="18288">
            <a:spAutoFit/>
          </a:bodyPr>
          <a:lstStyle/>
          <a:p>
            <a:pPr algn="ctr"/>
            <a:r>
              <a:rPr sz="1300" b="0">
                <a:solidFill>
                  <a:srgbClr val="5B636E"/>
                </a:solidFill>
                <a:latin typeface="Hiragino Sans"/>
              </a:rPr>
              <a:t>ワーク画像/実験動画をスマホで記録</a:t>
            </a:r>
          </a:p>
        </p:txBody>
      </p:sp>
      <p:sp>
        <p:nvSpPr>
          <p:cNvPr id="10" name="TextBox 9"/>
          <p:cNvSpPr txBox="1"/>
          <p:nvPr/>
        </p:nvSpPr>
        <p:spPr>
          <a:xfrm>
            <a:off x="2587752" y="2240280"/>
            <a:ext cx="320040" cy="274320"/>
          </a:xfrm>
          <a:prstGeom prst="rect">
            <a:avLst/>
          </a:prstGeom>
          <a:noFill/>
        </p:spPr>
        <p:txBody>
          <a:bodyPr wrap="none" lIns="27432" rIns="27432" tIns="18288" bIns="18288">
            <a:spAutoFit/>
          </a:bodyPr>
          <a:lstStyle/>
          <a:p>
            <a:pPr algn="ctr"/>
            <a:r>
              <a:rPr sz="2000" b="1">
                <a:solidFill>
                  <a:srgbClr val="5B636E"/>
                </a:solidFill>
                <a:latin typeface="Hiragino Sans"/>
              </a:rPr>
              <a:t>→</a:t>
            </a:r>
          </a:p>
        </p:txBody>
      </p:sp>
      <p:sp>
        <p:nvSpPr>
          <p:cNvPr id="11" name="Rounded Rectangle 10"/>
          <p:cNvSpPr/>
          <p:nvPr/>
        </p:nvSpPr>
        <p:spPr>
          <a:xfrm>
            <a:off x="2971800" y="1417320"/>
            <a:ext cx="1874519" cy="2011680"/>
          </a:xfrm>
          <a:prstGeom prst="roundRect">
            <a:avLst>
              <a:gd name="adj" fmla="val 6000"/>
            </a:avLst>
          </a:prstGeom>
          <a:solidFill>
            <a:srgbClr val="FFFFFF"/>
          </a:solidFill>
          <a:ln>
            <a:solidFill>
              <a:srgbClr val="1C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08960" y="1691640"/>
            <a:ext cx="1600200" cy="274320"/>
          </a:xfrm>
          <a:prstGeom prst="rect">
            <a:avLst/>
          </a:prstGeom>
          <a:noFill/>
        </p:spPr>
        <p:txBody>
          <a:bodyPr wrap="none" lIns="27432" rIns="27432" tIns="18288" bIns="18288">
            <a:spAutoFit/>
          </a:bodyPr>
          <a:lstStyle/>
          <a:p>
            <a:pPr algn="ctr"/>
            <a:r>
              <a:rPr sz="1600" b="1">
                <a:solidFill>
                  <a:srgbClr val="1C5BAA"/>
                </a:solidFill>
                <a:latin typeface="Hiragino Sans"/>
              </a:rPr>
              <a:t>2 音声メモ</a:t>
            </a:r>
          </a:p>
        </p:txBody>
      </p:sp>
      <p:sp>
        <p:nvSpPr>
          <p:cNvPr id="13" name="TextBox 12"/>
          <p:cNvSpPr txBox="1"/>
          <p:nvPr/>
        </p:nvSpPr>
        <p:spPr>
          <a:xfrm>
            <a:off x="3154680" y="2240280"/>
            <a:ext cx="1508760" cy="731520"/>
          </a:xfrm>
          <a:prstGeom prst="rect">
            <a:avLst/>
          </a:prstGeom>
          <a:noFill/>
        </p:spPr>
        <p:txBody>
          <a:bodyPr wrap="none" lIns="27432" rIns="27432" tIns="18288" bIns="18288">
            <a:spAutoFit/>
          </a:bodyPr>
          <a:lstStyle/>
          <a:p>
            <a:pPr algn="ctr"/>
            <a:r>
              <a:rPr sz="1300" b="0">
                <a:solidFill>
                  <a:srgbClr val="5B636E"/>
                </a:solidFill>
                <a:latin typeface="Hiragino Sans"/>
              </a:rPr>
              <a:t>材質・条件・気づきをその場で入力</a:t>
            </a:r>
          </a:p>
        </p:txBody>
      </p:sp>
      <p:sp>
        <p:nvSpPr>
          <p:cNvPr id="14" name="TextBox 13"/>
          <p:cNvSpPr txBox="1"/>
          <p:nvPr/>
        </p:nvSpPr>
        <p:spPr>
          <a:xfrm>
            <a:off x="4873752" y="2240280"/>
            <a:ext cx="320040" cy="274320"/>
          </a:xfrm>
          <a:prstGeom prst="rect">
            <a:avLst/>
          </a:prstGeom>
          <a:noFill/>
        </p:spPr>
        <p:txBody>
          <a:bodyPr wrap="none" lIns="27432" rIns="27432" tIns="18288" bIns="18288">
            <a:spAutoFit/>
          </a:bodyPr>
          <a:lstStyle/>
          <a:p>
            <a:pPr algn="ctr"/>
            <a:r>
              <a:rPr sz="2000" b="1">
                <a:solidFill>
                  <a:srgbClr val="5B636E"/>
                </a:solidFill>
                <a:latin typeface="Hiragino Sans"/>
              </a:rPr>
              <a:t>→</a:t>
            </a:r>
          </a:p>
        </p:txBody>
      </p:sp>
      <p:sp>
        <p:nvSpPr>
          <p:cNvPr id="15" name="Rounded Rectangle 14"/>
          <p:cNvSpPr/>
          <p:nvPr/>
        </p:nvSpPr>
        <p:spPr>
          <a:xfrm>
            <a:off x="5257800" y="1417320"/>
            <a:ext cx="1874519" cy="2011680"/>
          </a:xfrm>
          <a:prstGeom prst="roundRect">
            <a:avLst>
              <a:gd name="adj" fmla="val 6000"/>
            </a:avLst>
          </a:prstGeom>
          <a:solidFill>
            <a:srgbClr val="FFFFFF"/>
          </a:solidFill>
          <a:ln>
            <a:solidFill>
              <a:srgbClr val="B87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1691640"/>
            <a:ext cx="1600200" cy="274320"/>
          </a:xfrm>
          <a:prstGeom prst="rect">
            <a:avLst/>
          </a:prstGeom>
          <a:noFill/>
        </p:spPr>
        <p:txBody>
          <a:bodyPr wrap="none" lIns="27432" rIns="27432" tIns="18288" bIns="18288">
            <a:spAutoFit/>
          </a:bodyPr>
          <a:lstStyle/>
          <a:p>
            <a:pPr algn="ctr"/>
            <a:r>
              <a:rPr sz="1600" b="1">
                <a:solidFill>
                  <a:srgbClr val="B87818"/>
                </a:solidFill>
                <a:latin typeface="Hiragino Sans"/>
              </a:rPr>
              <a:t>3 AI整理</a:t>
            </a:r>
          </a:p>
        </p:txBody>
      </p:sp>
      <p:sp>
        <p:nvSpPr>
          <p:cNvPr id="17" name="TextBox 16"/>
          <p:cNvSpPr txBox="1"/>
          <p:nvPr/>
        </p:nvSpPr>
        <p:spPr>
          <a:xfrm>
            <a:off x="5440680" y="2240280"/>
            <a:ext cx="1508760" cy="731520"/>
          </a:xfrm>
          <a:prstGeom prst="rect">
            <a:avLst/>
          </a:prstGeom>
          <a:noFill/>
        </p:spPr>
        <p:txBody>
          <a:bodyPr wrap="none" lIns="27432" rIns="27432" tIns="18288" bIns="18288">
            <a:spAutoFit/>
          </a:bodyPr>
          <a:lstStyle/>
          <a:p>
            <a:pPr algn="ctr"/>
            <a:r>
              <a:rPr sz="1300" b="0">
                <a:solidFill>
                  <a:srgbClr val="5B636E"/>
                </a:solidFill>
                <a:latin typeface="Hiragino Sans"/>
              </a:rPr>
              <a:t>文字起こし、要約、条件/結果抽出</a:t>
            </a:r>
          </a:p>
        </p:txBody>
      </p:sp>
      <p:sp>
        <p:nvSpPr>
          <p:cNvPr id="18" name="TextBox 17"/>
          <p:cNvSpPr txBox="1"/>
          <p:nvPr/>
        </p:nvSpPr>
        <p:spPr>
          <a:xfrm>
            <a:off x="7159752" y="2240280"/>
            <a:ext cx="320040" cy="274320"/>
          </a:xfrm>
          <a:prstGeom prst="rect">
            <a:avLst/>
          </a:prstGeom>
          <a:noFill/>
        </p:spPr>
        <p:txBody>
          <a:bodyPr wrap="none" lIns="27432" rIns="27432" tIns="18288" bIns="18288">
            <a:spAutoFit/>
          </a:bodyPr>
          <a:lstStyle/>
          <a:p>
            <a:pPr algn="ctr"/>
            <a:r>
              <a:rPr sz="2000" b="1">
                <a:solidFill>
                  <a:srgbClr val="5B636E"/>
                </a:solidFill>
                <a:latin typeface="Hiragino Sans"/>
              </a:rPr>
              <a:t>→</a:t>
            </a:r>
          </a:p>
        </p:txBody>
      </p:sp>
      <p:sp>
        <p:nvSpPr>
          <p:cNvPr id="19" name="Rounded Rectangle 18"/>
          <p:cNvSpPr/>
          <p:nvPr/>
        </p:nvSpPr>
        <p:spPr>
          <a:xfrm>
            <a:off x="7543800" y="1417320"/>
            <a:ext cx="1874519" cy="2011680"/>
          </a:xfrm>
          <a:prstGeom prst="roundRect">
            <a:avLst>
              <a:gd name="adj" fmla="val 6000"/>
            </a:avLst>
          </a:prstGeom>
          <a:solidFill>
            <a:srgbClr val="FFFFFF"/>
          </a:solidFill>
          <a:ln>
            <a:solidFill>
              <a:srgbClr val="1484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0" y="1691640"/>
            <a:ext cx="1600200" cy="274320"/>
          </a:xfrm>
          <a:prstGeom prst="rect">
            <a:avLst/>
          </a:prstGeom>
          <a:noFill/>
        </p:spPr>
        <p:txBody>
          <a:bodyPr wrap="none" lIns="27432" rIns="27432" tIns="18288" bIns="18288">
            <a:spAutoFit/>
          </a:bodyPr>
          <a:lstStyle/>
          <a:p>
            <a:pPr algn="ctr"/>
            <a:r>
              <a:rPr sz="1600" b="1">
                <a:solidFill>
                  <a:srgbClr val="148454"/>
                </a:solidFill>
                <a:latin typeface="Hiragino Sans"/>
              </a:rPr>
              <a:t>4 レポート化</a:t>
            </a:r>
          </a:p>
        </p:txBody>
      </p:sp>
      <p:sp>
        <p:nvSpPr>
          <p:cNvPr id="21" name="TextBox 20"/>
          <p:cNvSpPr txBox="1"/>
          <p:nvPr/>
        </p:nvSpPr>
        <p:spPr>
          <a:xfrm>
            <a:off x="7726679" y="2240280"/>
            <a:ext cx="1508760" cy="731520"/>
          </a:xfrm>
          <a:prstGeom prst="rect">
            <a:avLst/>
          </a:prstGeom>
          <a:noFill/>
        </p:spPr>
        <p:txBody>
          <a:bodyPr wrap="none" lIns="27432" rIns="27432" tIns="18288" bIns="18288">
            <a:spAutoFit/>
          </a:bodyPr>
          <a:lstStyle/>
          <a:p>
            <a:pPr algn="ctr"/>
            <a:r>
              <a:rPr sz="1300" b="0">
                <a:solidFill>
                  <a:srgbClr val="5B636E"/>
                </a:solidFill>
                <a:latin typeface="Hiragino Sans"/>
              </a:rPr>
              <a:t>Excel/顧客向け報告の下書きを生成</a:t>
            </a:r>
          </a:p>
        </p:txBody>
      </p:sp>
      <p:sp>
        <p:nvSpPr>
          <p:cNvPr id="22" name="TextBox 21"/>
          <p:cNvSpPr txBox="1"/>
          <p:nvPr/>
        </p:nvSpPr>
        <p:spPr>
          <a:xfrm>
            <a:off x="9445752" y="2240280"/>
            <a:ext cx="320040" cy="274320"/>
          </a:xfrm>
          <a:prstGeom prst="rect">
            <a:avLst/>
          </a:prstGeom>
          <a:noFill/>
        </p:spPr>
        <p:txBody>
          <a:bodyPr wrap="none" lIns="27432" rIns="27432" tIns="18288" bIns="18288">
            <a:spAutoFit/>
          </a:bodyPr>
          <a:lstStyle/>
          <a:p>
            <a:pPr algn="ctr"/>
            <a:r>
              <a:rPr sz="2000" b="1">
                <a:solidFill>
                  <a:srgbClr val="5B636E"/>
                </a:solidFill>
                <a:latin typeface="Hiragino Sans"/>
              </a:rPr>
              <a:t>→</a:t>
            </a:r>
          </a:p>
        </p:txBody>
      </p:sp>
      <p:sp>
        <p:nvSpPr>
          <p:cNvPr id="23" name="Rounded Rectangle 22"/>
          <p:cNvSpPr/>
          <p:nvPr/>
        </p:nvSpPr>
        <p:spPr>
          <a:xfrm>
            <a:off x="9829800" y="1417320"/>
            <a:ext cx="1874519" cy="2011680"/>
          </a:xfrm>
          <a:prstGeom prst="roundRect">
            <a:avLst>
              <a:gd name="adj" fmla="val 6000"/>
            </a:avLst>
          </a:prstGeom>
          <a:solidFill>
            <a:srgbClr val="FFFFFF"/>
          </a:solidFill>
          <a:ln>
            <a:solidFill>
              <a:srgbClr val="1484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66960" y="1691640"/>
            <a:ext cx="1600200" cy="274320"/>
          </a:xfrm>
          <a:prstGeom prst="rect">
            <a:avLst/>
          </a:prstGeom>
          <a:noFill/>
        </p:spPr>
        <p:txBody>
          <a:bodyPr wrap="none" lIns="27432" rIns="27432" tIns="18288" bIns="18288">
            <a:spAutoFit/>
          </a:bodyPr>
          <a:lstStyle/>
          <a:p>
            <a:pPr algn="ctr"/>
            <a:r>
              <a:rPr sz="1600" b="1">
                <a:solidFill>
                  <a:srgbClr val="148454"/>
                </a:solidFill>
                <a:latin typeface="Hiragino Sans"/>
              </a:rPr>
              <a:t>5 承認</a:t>
            </a:r>
          </a:p>
        </p:txBody>
      </p:sp>
      <p:sp>
        <p:nvSpPr>
          <p:cNvPr id="25" name="TextBox 24"/>
          <p:cNvSpPr txBox="1"/>
          <p:nvPr/>
        </p:nvSpPr>
        <p:spPr>
          <a:xfrm>
            <a:off x="10012680" y="2240280"/>
            <a:ext cx="1508760" cy="731520"/>
          </a:xfrm>
          <a:prstGeom prst="rect">
            <a:avLst/>
          </a:prstGeom>
          <a:noFill/>
        </p:spPr>
        <p:txBody>
          <a:bodyPr wrap="none" lIns="27432" rIns="27432" tIns="18288" bIns="18288">
            <a:spAutoFit/>
          </a:bodyPr>
          <a:lstStyle/>
          <a:p>
            <a:pPr algn="ctr"/>
            <a:r>
              <a:rPr sz="1300" b="0">
                <a:solidFill>
                  <a:srgbClr val="5B636E"/>
                </a:solidFill>
                <a:latin typeface="Hiragino Sans"/>
              </a:rPr>
              <a:t>担当者が確認・修正して提出</a:t>
            </a:r>
          </a:p>
        </p:txBody>
      </p:sp>
      <p:sp>
        <p:nvSpPr>
          <p:cNvPr id="26" name="TextBox 25"/>
          <p:cNvSpPr txBox="1"/>
          <p:nvPr/>
        </p:nvSpPr>
        <p:spPr>
          <a:xfrm>
            <a:off x="822960" y="4206240"/>
            <a:ext cx="10607040" cy="502920"/>
          </a:xfrm>
          <a:prstGeom prst="rect">
            <a:avLst/>
          </a:prstGeom>
          <a:noFill/>
        </p:spPr>
        <p:txBody>
          <a:bodyPr wrap="none" lIns="27432" rIns="27432" tIns="18288" bIns="18288">
            <a:spAutoFit/>
          </a:bodyPr>
          <a:lstStyle/>
          <a:p>
            <a:r>
              <a:rPr sz="2300" b="1">
                <a:solidFill>
                  <a:srgbClr val="282D34"/>
                </a:solidFill>
                <a:latin typeface="Hiragino Sans"/>
              </a:rPr>
              <a:t>この流れにより、実証作業の直後に「報告できる資料」と「再利用できるデータ」が同時に残る。</a:t>
            </a:r>
          </a:p>
        </p:txBody>
      </p:sp>
      <p:sp>
        <p:nvSpPr>
          <p:cNvPr id="27" name="TextBox 26"/>
          <p:cNvSpPr txBox="1"/>
          <p:nvPr/>
        </p:nvSpPr>
        <p:spPr>
          <a:xfrm>
            <a:off x="960120" y="4956048"/>
            <a:ext cx="10058400" cy="822960"/>
          </a:xfrm>
          <a:prstGeom prst="rect">
            <a:avLst/>
          </a:prstGeom>
          <a:noFill/>
        </p:spPr>
        <p:txBody>
          <a:bodyPr wrap="square" lIns="45720" rIns="45720" tIns="18288" bIns="18288">
            <a:spAutoFit/>
          </a:bodyPr>
          <a:lstStyle/>
          <a:p>
            <a:pPr marL="228600" indent="-171450">
              <a:spcAft>
                <a:spcPts val="700"/>
              </a:spcAft>
              <a:defRPr sz="1700">
                <a:solidFill>
                  <a:srgbClr val="282D34"/>
                </a:solidFill>
                <a:latin typeface="Hiragino Sans"/>
              </a:defRPr>
            </a:pPr>
            <a:r>
              <a:t>顧客提出物は必ず担当者レビュー後に利用</a:t>
            </a:r>
          </a:p>
          <a:p>
            <a:pPr marL="228600" indent="-171450">
              <a:spcAft>
                <a:spcPts val="700"/>
              </a:spcAft>
              <a:defRPr sz="1700">
                <a:solidFill>
                  <a:srgbClr val="282D34"/>
                </a:solidFill>
                <a:latin typeface="Hiragino Sans"/>
              </a:defRPr>
            </a:pPr>
            <a:r>
              <a:t>PoCでは限定案件・限定ユーザー・匿名化可能なデータから開始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9875520" cy="411480"/>
          </a:xfrm>
          <a:prstGeom prst="rect">
            <a:avLst/>
          </a:prstGeom>
          <a:noFill/>
        </p:spPr>
        <p:txBody>
          <a:bodyPr wrap="none" lIns="27432" rIns="27432" tIns="18288" bIns="18288">
            <a:spAutoFit/>
          </a:bodyPr>
          <a:lstStyle/>
          <a:p>
            <a:r>
              <a:rPr sz="2400" b="1">
                <a:solidFill>
                  <a:srgbClr val="282D34"/>
                </a:solidFill>
                <a:latin typeface="Hiragino Sans"/>
              </a:rPr>
              <a:t>蓄積するデータ: 将来の選定支援に使える形へ</a:t>
            </a:r>
          </a:p>
        </p:txBody>
      </p:sp>
      <p:sp>
        <p:nvSpPr>
          <p:cNvPr id="3" name="TextBox 2"/>
          <p:cNvSpPr txBox="1"/>
          <p:nvPr/>
        </p:nvSpPr>
        <p:spPr>
          <a:xfrm>
            <a:off x="10058400" y="283464"/>
            <a:ext cx="1554480" cy="320040"/>
          </a:xfrm>
          <a:prstGeom prst="rect">
            <a:avLst/>
          </a:prstGeom>
          <a:noFill/>
        </p:spPr>
        <p:txBody>
          <a:bodyPr wrap="none" lIns="27432" rIns="27432" tIns="18288" bIns="18288">
            <a:spAutoFit/>
          </a:bodyPr>
          <a:lstStyle/>
          <a:p>
            <a:pPr algn="r"/>
            <a:r>
              <a:rPr sz="1000" b="1">
                <a:solidFill>
                  <a:srgbClr val="5B636E"/>
                </a:solidFill>
                <a:latin typeface="Hiragino Sans"/>
              </a:rPr>
              <a:t>Data Model</a:t>
            </a:r>
          </a:p>
        </p:txBody>
      </p:sp>
      <p:sp>
        <p:nvSpPr>
          <p:cNvPr id="4" name="Rectangle 3"/>
          <p:cNvSpPr/>
          <p:nvPr/>
        </p:nvSpPr>
        <p:spPr>
          <a:xfrm>
            <a:off x="502920" y="758952"/>
            <a:ext cx="11155680" cy="18288"/>
          </a:xfrm>
          <a:prstGeom prst="rect">
            <a:avLst/>
          </a:prstGeom>
          <a:solidFill>
            <a:srgbClr val="DA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4572000" cy="201168"/>
          </a:xfrm>
          <a:prstGeom prst="rect">
            <a:avLst/>
          </a:prstGeom>
          <a:noFill/>
        </p:spPr>
        <p:txBody>
          <a:bodyPr wrap="none" lIns="27432" rIns="27432" tIns="18288" bIns="18288">
            <a:spAutoFit/>
          </a:bodyPr>
          <a:lstStyle/>
          <a:p>
            <a:r>
              <a:rPr sz="800" b="0">
                <a:solidFill>
                  <a:srgbClr val="5B636E"/>
                </a:solidFill>
                <a:latin typeface="Hiragino Sans"/>
              </a:rPr>
              <a:t>SMC様向け ワーク実証記録AI化 初期提案</a:t>
            </a:r>
          </a:p>
        </p:txBody>
      </p:sp>
      <p:sp>
        <p:nvSpPr>
          <p:cNvPr id="6" name="TextBox 5"/>
          <p:cNvSpPr txBox="1"/>
          <p:nvPr/>
        </p:nvSpPr>
        <p:spPr>
          <a:xfrm>
            <a:off x="10789920" y="6446520"/>
            <a:ext cx="822960" cy="201168"/>
          </a:xfrm>
          <a:prstGeom prst="rect">
            <a:avLst/>
          </a:prstGeom>
          <a:noFill/>
        </p:spPr>
        <p:txBody>
          <a:bodyPr wrap="none" lIns="27432" rIns="27432" tIns="18288" bIns="18288">
            <a:spAutoFit/>
          </a:bodyPr>
          <a:lstStyle/>
          <a:p>
            <a:pPr algn="r"/>
            <a:r>
              <a:rPr sz="800" b="0">
                <a:solidFill>
                  <a:srgbClr val="5B636E"/>
                </a:solidFill>
                <a:latin typeface="Hiragino Sans"/>
              </a:rPr>
              <a:t>6</a:t>
            </a:r>
          </a:p>
        </p:txBody>
      </p:sp>
      <p:sp>
        <p:nvSpPr>
          <p:cNvPr id="7" name="Rounded Rectangle 6"/>
          <p:cNvSpPr/>
          <p:nvPr/>
        </p:nvSpPr>
        <p:spPr>
          <a:xfrm>
            <a:off x="685800" y="1325880"/>
            <a:ext cx="2423160" cy="3429000"/>
          </a:xfrm>
          <a:prstGeom prst="roundRect">
            <a:avLst>
              <a:gd name="adj" fmla="val 5000"/>
            </a:avLst>
          </a:prstGeom>
          <a:solidFill>
            <a:srgbClr val="FFFFFF"/>
          </a:solidFill>
          <a:ln>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325880"/>
            <a:ext cx="73152" cy="3429000"/>
          </a:xfrm>
          <a:prstGeom prst="rect">
            <a:avLst/>
          </a:prstGeom>
          <a:solidFill>
            <a:srgbClr val="1C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481328"/>
            <a:ext cx="2075688" cy="320040"/>
          </a:xfrm>
          <a:prstGeom prst="rect">
            <a:avLst/>
          </a:prstGeom>
          <a:noFill/>
        </p:spPr>
        <p:txBody>
          <a:bodyPr wrap="none" lIns="27432" rIns="27432" tIns="18288" bIns="18288">
            <a:spAutoFit/>
          </a:bodyPr>
          <a:lstStyle/>
          <a:p>
            <a:r>
              <a:rPr sz="1700" b="1">
                <a:solidFill>
                  <a:srgbClr val="282D34"/>
                </a:solidFill>
                <a:latin typeface="Hiragino Sans"/>
              </a:rPr>
              <a:t>ワーク情報</a:t>
            </a:r>
          </a:p>
        </p:txBody>
      </p:sp>
      <p:sp>
        <p:nvSpPr>
          <p:cNvPr id="10" name="TextBox 9"/>
          <p:cNvSpPr txBox="1"/>
          <p:nvPr/>
        </p:nvSpPr>
        <p:spPr>
          <a:xfrm>
            <a:off x="886968" y="1947672"/>
            <a:ext cx="2075688" cy="2679192"/>
          </a:xfrm>
          <a:prstGeom prst="rect">
            <a:avLst/>
          </a:prstGeom>
          <a:noFill/>
        </p:spPr>
        <p:txBody>
          <a:bodyPr wrap="square" lIns="45720" rIns="45720" tIns="18288" bIns="18288">
            <a:spAutoFit/>
          </a:bodyPr>
          <a:lstStyle/>
          <a:p>
            <a:pPr>
              <a:spcAft>
                <a:spcPts val="700"/>
              </a:spcAft>
              <a:defRPr sz="1500">
                <a:solidFill>
                  <a:srgbClr val="5B636E"/>
                </a:solidFill>
                <a:latin typeface="Hiragino Sans"/>
              </a:defRPr>
            </a:pPr>
            <a:r>
              <a:t>材質</a:t>
            </a:r>
          </a:p>
          <a:p>
            <a:pPr>
              <a:spcAft>
                <a:spcPts val="700"/>
              </a:spcAft>
              <a:defRPr sz="1500">
                <a:solidFill>
                  <a:srgbClr val="5B636E"/>
                </a:solidFill>
                <a:latin typeface="Hiragino Sans"/>
              </a:defRPr>
            </a:pPr>
            <a:r>
              <a:t>形状/サイズ/重量</a:t>
            </a:r>
          </a:p>
          <a:p>
            <a:pPr>
              <a:spcAft>
                <a:spcPts val="700"/>
              </a:spcAft>
              <a:defRPr sz="1500">
                <a:solidFill>
                  <a:srgbClr val="5B636E"/>
                </a:solidFill>
                <a:latin typeface="Hiragino Sans"/>
              </a:defRPr>
            </a:pPr>
            <a:r>
              <a:t>表面状態</a:t>
            </a:r>
          </a:p>
          <a:p>
            <a:pPr>
              <a:spcAft>
                <a:spcPts val="700"/>
              </a:spcAft>
              <a:defRPr sz="1500">
                <a:solidFill>
                  <a:srgbClr val="5B636E"/>
                </a:solidFill>
                <a:latin typeface="Hiragino Sans"/>
              </a:defRPr>
            </a:pPr>
            <a:r>
              <a:t>包装状態</a:t>
            </a:r>
          </a:p>
        </p:txBody>
      </p:sp>
      <p:sp>
        <p:nvSpPr>
          <p:cNvPr id="11" name="Rounded Rectangle 10"/>
          <p:cNvSpPr/>
          <p:nvPr/>
        </p:nvSpPr>
        <p:spPr>
          <a:xfrm>
            <a:off x="3474720" y="1325880"/>
            <a:ext cx="2423160" cy="3429000"/>
          </a:xfrm>
          <a:prstGeom prst="roundRect">
            <a:avLst>
              <a:gd name="adj" fmla="val 5000"/>
            </a:avLst>
          </a:prstGeom>
          <a:solidFill>
            <a:srgbClr val="FFFFFF"/>
          </a:solidFill>
          <a:ln>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1325880"/>
            <a:ext cx="73152" cy="3429000"/>
          </a:xfrm>
          <a:prstGeom prst="rect">
            <a:avLst/>
          </a:prstGeom>
          <a:solidFill>
            <a:srgbClr val="B87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75887" y="1481328"/>
            <a:ext cx="2075688" cy="320040"/>
          </a:xfrm>
          <a:prstGeom prst="rect">
            <a:avLst/>
          </a:prstGeom>
          <a:noFill/>
        </p:spPr>
        <p:txBody>
          <a:bodyPr wrap="none" lIns="27432" rIns="27432" tIns="18288" bIns="18288">
            <a:spAutoFit/>
          </a:bodyPr>
          <a:lstStyle/>
          <a:p>
            <a:r>
              <a:rPr sz="1700" b="1">
                <a:solidFill>
                  <a:srgbClr val="282D34"/>
                </a:solidFill>
                <a:latin typeface="Hiragino Sans"/>
              </a:rPr>
              <a:t>使用条件</a:t>
            </a:r>
          </a:p>
        </p:txBody>
      </p:sp>
      <p:sp>
        <p:nvSpPr>
          <p:cNvPr id="14" name="TextBox 13"/>
          <p:cNvSpPr txBox="1"/>
          <p:nvPr/>
        </p:nvSpPr>
        <p:spPr>
          <a:xfrm>
            <a:off x="3675887" y="1947672"/>
            <a:ext cx="2075688" cy="2679192"/>
          </a:xfrm>
          <a:prstGeom prst="rect">
            <a:avLst/>
          </a:prstGeom>
          <a:noFill/>
        </p:spPr>
        <p:txBody>
          <a:bodyPr wrap="square" lIns="45720" rIns="45720" tIns="18288" bIns="18288">
            <a:spAutoFit/>
          </a:bodyPr>
          <a:lstStyle/>
          <a:p>
            <a:pPr>
              <a:spcAft>
                <a:spcPts val="700"/>
              </a:spcAft>
              <a:defRPr sz="1500">
                <a:solidFill>
                  <a:srgbClr val="5B636E"/>
                </a:solidFill>
                <a:latin typeface="Hiragino Sans"/>
              </a:defRPr>
            </a:pPr>
            <a:r>
              <a:t>パッド/グリッパー型番</a:t>
            </a:r>
          </a:p>
          <a:p>
            <a:pPr>
              <a:spcAft>
                <a:spcPts val="700"/>
              </a:spcAft>
              <a:defRPr sz="1500">
                <a:solidFill>
                  <a:srgbClr val="5B636E"/>
                </a:solidFill>
                <a:latin typeface="Hiragino Sans"/>
              </a:defRPr>
            </a:pPr>
            <a:r>
              <a:t>吸着条件</a:t>
            </a:r>
          </a:p>
          <a:p>
            <a:pPr>
              <a:spcAft>
                <a:spcPts val="700"/>
              </a:spcAft>
              <a:defRPr sz="1500">
                <a:solidFill>
                  <a:srgbClr val="5B636E"/>
                </a:solidFill>
                <a:latin typeface="Hiragino Sans"/>
              </a:defRPr>
            </a:pPr>
            <a:r>
              <a:t>搬送条件</a:t>
            </a:r>
          </a:p>
          <a:p>
            <a:pPr>
              <a:spcAft>
                <a:spcPts val="700"/>
              </a:spcAft>
              <a:defRPr sz="1500">
                <a:solidFill>
                  <a:srgbClr val="5B636E"/>
                </a:solidFill>
                <a:latin typeface="Hiragino Sans"/>
              </a:defRPr>
            </a:pPr>
            <a:r>
              <a:t>試行回数</a:t>
            </a:r>
          </a:p>
        </p:txBody>
      </p:sp>
      <p:sp>
        <p:nvSpPr>
          <p:cNvPr id="15" name="Rounded Rectangle 14"/>
          <p:cNvSpPr/>
          <p:nvPr/>
        </p:nvSpPr>
        <p:spPr>
          <a:xfrm>
            <a:off x="6263640" y="1325880"/>
            <a:ext cx="2423160" cy="3429000"/>
          </a:xfrm>
          <a:prstGeom prst="roundRect">
            <a:avLst>
              <a:gd name="adj" fmla="val 5000"/>
            </a:avLst>
          </a:prstGeom>
          <a:solidFill>
            <a:srgbClr val="FFFFFF"/>
          </a:solidFill>
          <a:ln>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1325880"/>
            <a:ext cx="73152" cy="3429000"/>
          </a:xfrm>
          <a:prstGeom prst="rect">
            <a:avLst/>
          </a:prstGeom>
          <a:solidFill>
            <a:srgbClr val="148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807" y="1481328"/>
            <a:ext cx="2075688" cy="320040"/>
          </a:xfrm>
          <a:prstGeom prst="rect">
            <a:avLst/>
          </a:prstGeom>
          <a:noFill/>
        </p:spPr>
        <p:txBody>
          <a:bodyPr wrap="none" lIns="27432" rIns="27432" tIns="18288" bIns="18288">
            <a:spAutoFit/>
          </a:bodyPr>
          <a:lstStyle/>
          <a:p>
            <a:r>
              <a:rPr sz="1700" b="1">
                <a:solidFill>
                  <a:srgbClr val="282D34"/>
                </a:solidFill>
                <a:latin typeface="Hiragino Sans"/>
              </a:rPr>
              <a:t>実証結果</a:t>
            </a:r>
          </a:p>
        </p:txBody>
      </p:sp>
      <p:sp>
        <p:nvSpPr>
          <p:cNvPr id="18" name="TextBox 17"/>
          <p:cNvSpPr txBox="1"/>
          <p:nvPr/>
        </p:nvSpPr>
        <p:spPr>
          <a:xfrm>
            <a:off x="6464807" y="1947672"/>
            <a:ext cx="2075688" cy="2679192"/>
          </a:xfrm>
          <a:prstGeom prst="rect">
            <a:avLst/>
          </a:prstGeom>
          <a:noFill/>
        </p:spPr>
        <p:txBody>
          <a:bodyPr wrap="square" lIns="45720" rIns="45720" tIns="18288" bIns="18288">
            <a:spAutoFit/>
          </a:bodyPr>
          <a:lstStyle/>
          <a:p>
            <a:pPr>
              <a:spcAft>
                <a:spcPts val="700"/>
              </a:spcAft>
              <a:defRPr sz="1500">
                <a:solidFill>
                  <a:srgbClr val="5B636E"/>
                </a:solidFill>
                <a:latin typeface="Hiragino Sans"/>
              </a:defRPr>
            </a:pPr>
            <a:r>
              <a:t>成功/失敗</a:t>
            </a:r>
          </a:p>
          <a:p>
            <a:pPr>
              <a:spcAft>
                <a:spcPts val="700"/>
              </a:spcAft>
              <a:defRPr sz="1500">
                <a:solidFill>
                  <a:srgbClr val="5B636E"/>
                </a:solidFill>
                <a:latin typeface="Hiragino Sans"/>
              </a:defRPr>
            </a:pPr>
            <a:r>
              <a:t>安定性</a:t>
            </a:r>
          </a:p>
          <a:p>
            <a:pPr>
              <a:spcAft>
                <a:spcPts val="700"/>
              </a:spcAft>
              <a:defRPr sz="1500">
                <a:solidFill>
                  <a:srgbClr val="5B636E"/>
                </a:solidFill>
                <a:latin typeface="Hiragino Sans"/>
              </a:defRPr>
            </a:pPr>
            <a:r>
              <a:t>耐久性</a:t>
            </a:r>
          </a:p>
          <a:p>
            <a:pPr>
              <a:spcAft>
                <a:spcPts val="700"/>
              </a:spcAft>
              <a:defRPr sz="1500">
                <a:solidFill>
                  <a:srgbClr val="5B636E"/>
                </a:solidFill>
                <a:latin typeface="Hiragino Sans"/>
              </a:defRPr>
            </a:pPr>
            <a:r>
              <a:t>失敗理由</a:t>
            </a:r>
          </a:p>
        </p:txBody>
      </p:sp>
      <p:sp>
        <p:nvSpPr>
          <p:cNvPr id="19" name="Rounded Rectangle 18"/>
          <p:cNvSpPr/>
          <p:nvPr/>
        </p:nvSpPr>
        <p:spPr>
          <a:xfrm>
            <a:off x="9052559" y="1325880"/>
            <a:ext cx="2423160" cy="3429000"/>
          </a:xfrm>
          <a:prstGeom prst="roundRect">
            <a:avLst>
              <a:gd name="adj" fmla="val 5000"/>
            </a:avLst>
          </a:prstGeom>
          <a:solidFill>
            <a:srgbClr val="FFFFFF"/>
          </a:solidFill>
          <a:ln>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52559" y="1325880"/>
            <a:ext cx="73152" cy="3429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53728" y="1481328"/>
            <a:ext cx="2075688" cy="320040"/>
          </a:xfrm>
          <a:prstGeom prst="rect">
            <a:avLst/>
          </a:prstGeom>
          <a:noFill/>
        </p:spPr>
        <p:txBody>
          <a:bodyPr wrap="none" lIns="27432" rIns="27432" tIns="18288" bIns="18288">
            <a:spAutoFit/>
          </a:bodyPr>
          <a:lstStyle/>
          <a:p>
            <a:r>
              <a:rPr sz="1700" b="1">
                <a:solidFill>
                  <a:srgbClr val="282D34"/>
                </a:solidFill>
                <a:latin typeface="Hiragino Sans"/>
              </a:rPr>
              <a:t>証跡</a:t>
            </a:r>
          </a:p>
        </p:txBody>
      </p:sp>
      <p:sp>
        <p:nvSpPr>
          <p:cNvPr id="22" name="TextBox 21"/>
          <p:cNvSpPr txBox="1"/>
          <p:nvPr/>
        </p:nvSpPr>
        <p:spPr>
          <a:xfrm>
            <a:off x="9253728" y="1947672"/>
            <a:ext cx="2075688" cy="2679192"/>
          </a:xfrm>
          <a:prstGeom prst="rect">
            <a:avLst/>
          </a:prstGeom>
          <a:noFill/>
        </p:spPr>
        <p:txBody>
          <a:bodyPr wrap="square" lIns="45720" rIns="45720" tIns="18288" bIns="18288">
            <a:spAutoFit/>
          </a:bodyPr>
          <a:lstStyle/>
          <a:p>
            <a:pPr>
              <a:spcAft>
                <a:spcPts val="700"/>
              </a:spcAft>
              <a:defRPr sz="1500">
                <a:solidFill>
                  <a:srgbClr val="5B636E"/>
                </a:solidFill>
                <a:latin typeface="Hiragino Sans"/>
              </a:defRPr>
            </a:pPr>
            <a:r>
              <a:t>画像/動画</a:t>
            </a:r>
          </a:p>
          <a:p>
            <a:pPr>
              <a:spcAft>
                <a:spcPts val="700"/>
              </a:spcAft>
              <a:defRPr sz="1500">
                <a:solidFill>
                  <a:srgbClr val="5B636E"/>
                </a:solidFill>
                <a:latin typeface="Hiragino Sans"/>
              </a:defRPr>
            </a:pPr>
            <a:r>
              <a:t>音声メモ</a:t>
            </a:r>
          </a:p>
          <a:p>
            <a:pPr>
              <a:spcAft>
                <a:spcPts val="700"/>
              </a:spcAft>
              <a:defRPr sz="1500">
                <a:solidFill>
                  <a:srgbClr val="5B636E"/>
                </a:solidFill>
                <a:latin typeface="Hiragino Sans"/>
              </a:defRPr>
            </a:pPr>
            <a:r>
              <a:t>顧客向け報告</a:t>
            </a:r>
          </a:p>
          <a:p>
            <a:pPr>
              <a:spcAft>
                <a:spcPts val="700"/>
              </a:spcAft>
              <a:defRPr sz="1500">
                <a:solidFill>
                  <a:srgbClr val="5B636E"/>
                </a:solidFill>
                <a:latin typeface="Hiragino Sans"/>
              </a:defRPr>
            </a:pPr>
            <a:r>
              <a:t>担当者コメント</a:t>
            </a:r>
          </a:p>
        </p:txBody>
      </p:sp>
      <p:sp>
        <p:nvSpPr>
          <p:cNvPr id="23" name="TextBox 22"/>
          <p:cNvSpPr txBox="1"/>
          <p:nvPr/>
        </p:nvSpPr>
        <p:spPr>
          <a:xfrm>
            <a:off x="868680" y="5257800"/>
            <a:ext cx="10424160" cy="502920"/>
          </a:xfrm>
          <a:prstGeom prst="rect">
            <a:avLst/>
          </a:prstGeom>
          <a:noFill/>
        </p:spPr>
        <p:txBody>
          <a:bodyPr wrap="none" lIns="27432" rIns="27432" tIns="18288" bIns="18288">
            <a:spAutoFit/>
          </a:bodyPr>
          <a:lstStyle/>
          <a:p>
            <a:pPr algn="ctr"/>
            <a:r>
              <a:rPr sz="2100" b="1">
                <a:solidFill>
                  <a:srgbClr val="282D34"/>
                </a:solidFill>
                <a:latin typeface="Hiragino Sans"/>
              </a:rPr>
              <a:t>狙い: 「このワークには何が効いたか/効かなかったか」を、担当者の記憶ではなく組織の資産にする。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9875520" cy="411480"/>
          </a:xfrm>
          <a:prstGeom prst="rect">
            <a:avLst/>
          </a:prstGeom>
          <a:noFill/>
        </p:spPr>
        <p:txBody>
          <a:bodyPr wrap="none" lIns="27432" rIns="27432" tIns="18288" bIns="18288">
            <a:spAutoFit/>
          </a:bodyPr>
          <a:lstStyle/>
          <a:p>
            <a:r>
              <a:rPr sz="2400" b="1">
                <a:solidFill>
                  <a:srgbClr val="282D34"/>
                </a:solidFill>
                <a:latin typeface="Hiragino Sans"/>
              </a:rPr>
              <a:t>ロードマップ: マーケットプレイスは後続フェーズ</a:t>
            </a:r>
          </a:p>
        </p:txBody>
      </p:sp>
      <p:sp>
        <p:nvSpPr>
          <p:cNvPr id="3" name="TextBox 2"/>
          <p:cNvSpPr txBox="1"/>
          <p:nvPr/>
        </p:nvSpPr>
        <p:spPr>
          <a:xfrm>
            <a:off x="10058400" y="283464"/>
            <a:ext cx="1554480" cy="320040"/>
          </a:xfrm>
          <a:prstGeom prst="rect">
            <a:avLst/>
          </a:prstGeom>
          <a:noFill/>
        </p:spPr>
        <p:txBody>
          <a:bodyPr wrap="none" lIns="27432" rIns="27432" tIns="18288" bIns="18288">
            <a:spAutoFit/>
          </a:bodyPr>
          <a:lstStyle/>
          <a:p>
            <a:pPr algn="r"/>
            <a:r>
              <a:rPr sz="1000" b="1">
                <a:solidFill>
                  <a:srgbClr val="5B636E"/>
                </a:solidFill>
                <a:latin typeface="Hiragino Sans"/>
              </a:rPr>
              <a:t>Roadmap</a:t>
            </a:r>
          </a:p>
        </p:txBody>
      </p:sp>
      <p:sp>
        <p:nvSpPr>
          <p:cNvPr id="4" name="Rectangle 3"/>
          <p:cNvSpPr/>
          <p:nvPr/>
        </p:nvSpPr>
        <p:spPr>
          <a:xfrm>
            <a:off x="502920" y="758952"/>
            <a:ext cx="11155680" cy="18288"/>
          </a:xfrm>
          <a:prstGeom prst="rect">
            <a:avLst/>
          </a:prstGeom>
          <a:solidFill>
            <a:srgbClr val="DA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4572000" cy="201168"/>
          </a:xfrm>
          <a:prstGeom prst="rect">
            <a:avLst/>
          </a:prstGeom>
          <a:noFill/>
        </p:spPr>
        <p:txBody>
          <a:bodyPr wrap="none" lIns="27432" rIns="27432" tIns="18288" bIns="18288">
            <a:spAutoFit/>
          </a:bodyPr>
          <a:lstStyle/>
          <a:p>
            <a:r>
              <a:rPr sz="800" b="0">
                <a:solidFill>
                  <a:srgbClr val="5B636E"/>
                </a:solidFill>
                <a:latin typeface="Hiragino Sans"/>
              </a:rPr>
              <a:t>SMC様向け ワーク実証記録AI化 初期提案</a:t>
            </a:r>
          </a:p>
        </p:txBody>
      </p:sp>
      <p:sp>
        <p:nvSpPr>
          <p:cNvPr id="6" name="TextBox 5"/>
          <p:cNvSpPr txBox="1"/>
          <p:nvPr/>
        </p:nvSpPr>
        <p:spPr>
          <a:xfrm>
            <a:off x="10789920" y="6446520"/>
            <a:ext cx="822960" cy="201168"/>
          </a:xfrm>
          <a:prstGeom prst="rect">
            <a:avLst/>
          </a:prstGeom>
          <a:noFill/>
        </p:spPr>
        <p:txBody>
          <a:bodyPr wrap="none" lIns="27432" rIns="27432" tIns="18288" bIns="18288">
            <a:spAutoFit/>
          </a:bodyPr>
          <a:lstStyle/>
          <a:p>
            <a:pPr algn="r"/>
            <a:r>
              <a:rPr sz="800" b="0">
                <a:solidFill>
                  <a:srgbClr val="5B636E"/>
                </a:solidFill>
                <a:latin typeface="Hiragino Sans"/>
              </a:rPr>
              <a:t>7</a:t>
            </a:r>
          </a:p>
        </p:txBody>
      </p:sp>
      <p:sp>
        <p:nvSpPr>
          <p:cNvPr id="7" name="Rounded Rectangle 6"/>
          <p:cNvSpPr/>
          <p:nvPr/>
        </p:nvSpPr>
        <p:spPr>
          <a:xfrm>
            <a:off x="502920" y="1298448"/>
            <a:ext cx="1993392" cy="3246120"/>
          </a:xfrm>
          <a:prstGeom prst="roundRect">
            <a:avLst>
              <a:gd name="adj" fmla="val 5000"/>
            </a:avLst>
          </a:prstGeom>
          <a:solidFill>
            <a:srgbClr val="FFFFFF"/>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1600200"/>
            <a:ext cx="1737360" cy="228600"/>
          </a:xfrm>
          <a:prstGeom prst="rect">
            <a:avLst/>
          </a:prstGeom>
          <a:noFill/>
        </p:spPr>
        <p:txBody>
          <a:bodyPr wrap="none" lIns="27432" rIns="27432" tIns="18288" bIns="18288">
            <a:spAutoFit/>
          </a:bodyPr>
          <a:lstStyle/>
          <a:p>
            <a:pPr algn="ctr"/>
            <a:r>
              <a:rPr sz="1300" b="1">
                <a:solidFill>
                  <a:srgbClr val="C00000"/>
                </a:solidFill>
                <a:latin typeface="Hiragino Sans"/>
              </a:rPr>
              <a:t>Phase 0</a:t>
            </a:r>
          </a:p>
        </p:txBody>
      </p:sp>
      <p:sp>
        <p:nvSpPr>
          <p:cNvPr id="9" name="TextBox 8"/>
          <p:cNvSpPr txBox="1"/>
          <p:nvPr/>
        </p:nvSpPr>
        <p:spPr>
          <a:xfrm>
            <a:off x="612648" y="2039112"/>
            <a:ext cx="1737360" cy="292608"/>
          </a:xfrm>
          <a:prstGeom prst="rect">
            <a:avLst/>
          </a:prstGeom>
          <a:noFill/>
        </p:spPr>
        <p:txBody>
          <a:bodyPr wrap="none" lIns="27432" rIns="27432" tIns="18288" bIns="18288">
            <a:spAutoFit/>
          </a:bodyPr>
          <a:lstStyle/>
          <a:p>
            <a:pPr algn="ctr"/>
            <a:r>
              <a:rPr sz="1600" b="1">
                <a:solidFill>
                  <a:srgbClr val="282D34"/>
                </a:solidFill>
                <a:latin typeface="Hiragino Sans"/>
              </a:rPr>
              <a:t>ポリシー確認</a:t>
            </a:r>
          </a:p>
        </p:txBody>
      </p:sp>
      <p:sp>
        <p:nvSpPr>
          <p:cNvPr id="10" name="TextBox 9"/>
          <p:cNvSpPr txBox="1"/>
          <p:nvPr/>
        </p:nvSpPr>
        <p:spPr>
          <a:xfrm>
            <a:off x="667512" y="2743200"/>
            <a:ext cx="1645920" cy="914400"/>
          </a:xfrm>
          <a:prstGeom prst="rect">
            <a:avLst/>
          </a:prstGeom>
          <a:noFill/>
        </p:spPr>
        <p:txBody>
          <a:bodyPr wrap="none" lIns="27432" rIns="27432" tIns="18288" bIns="18288">
            <a:spAutoFit/>
          </a:bodyPr>
          <a:lstStyle/>
          <a:p>
            <a:pPr algn="ctr"/>
            <a:r>
              <a:rPr sz="1200" b="0">
                <a:solidFill>
                  <a:srgbClr val="5B636E"/>
                </a:solidFill>
                <a:latin typeface="Hiragino Sans"/>
              </a:rPr>
              <a:t>データ分類
AI基盤可否
外部パートナー範囲</a:t>
            </a:r>
          </a:p>
        </p:txBody>
      </p:sp>
      <p:sp>
        <p:nvSpPr>
          <p:cNvPr id="11" name="TextBox 10"/>
          <p:cNvSpPr txBox="1"/>
          <p:nvPr/>
        </p:nvSpPr>
        <p:spPr>
          <a:xfrm>
            <a:off x="2496312" y="2743200"/>
            <a:ext cx="256032" cy="274320"/>
          </a:xfrm>
          <a:prstGeom prst="rect">
            <a:avLst/>
          </a:prstGeom>
          <a:noFill/>
        </p:spPr>
        <p:txBody>
          <a:bodyPr wrap="none" lIns="27432" rIns="27432" tIns="18288" bIns="18288">
            <a:spAutoFit/>
          </a:bodyPr>
          <a:lstStyle/>
          <a:p>
            <a:pPr algn="ctr"/>
            <a:r>
              <a:rPr sz="1800" b="1">
                <a:solidFill>
                  <a:srgbClr val="5B636E"/>
                </a:solidFill>
                <a:latin typeface="Hiragino Sans"/>
              </a:rPr>
              <a:t>→</a:t>
            </a:r>
          </a:p>
        </p:txBody>
      </p:sp>
      <p:sp>
        <p:nvSpPr>
          <p:cNvPr id="12" name="Rounded Rectangle 11"/>
          <p:cNvSpPr/>
          <p:nvPr/>
        </p:nvSpPr>
        <p:spPr>
          <a:xfrm>
            <a:off x="2807208" y="1298448"/>
            <a:ext cx="1993392" cy="3246120"/>
          </a:xfrm>
          <a:prstGeom prst="roundRect">
            <a:avLst>
              <a:gd name="adj" fmla="val 5000"/>
            </a:avLst>
          </a:prstGeom>
          <a:solidFill>
            <a:srgbClr val="FFFFFF"/>
          </a:solidFill>
          <a:ln>
            <a:solidFill>
              <a:srgbClr val="1C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16936" y="1600200"/>
            <a:ext cx="1737360" cy="228600"/>
          </a:xfrm>
          <a:prstGeom prst="rect">
            <a:avLst/>
          </a:prstGeom>
          <a:noFill/>
        </p:spPr>
        <p:txBody>
          <a:bodyPr wrap="none" lIns="27432" rIns="27432" tIns="18288" bIns="18288">
            <a:spAutoFit/>
          </a:bodyPr>
          <a:lstStyle/>
          <a:p>
            <a:pPr algn="ctr"/>
            <a:r>
              <a:rPr sz="1300" b="1">
                <a:solidFill>
                  <a:srgbClr val="1C5BAA"/>
                </a:solidFill>
                <a:latin typeface="Hiragino Sans"/>
              </a:rPr>
              <a:t>Phase 1</a:t>
            </a:r>
          </a:p>
        </p:txBody>
      </p:sp>
      <p:sp>
        <p:nvSpPr>
          <p:cNvPr id="14" name="TextBox 13"/>
          <p:cNvSpPr txBox="1"/>
          <p:nvPr/>
        </p:nvSpPr>
        <p:spPr>
          <a:xfrm>
            <a:off x="2916936" y="2039112"/>
            <a:ext cx="1737360" cy="292608"/>
          </a:xfrm>
          <a:prstGeom prst="rect">
            <a:avLst/>
          </a:prstGeom>
          <a:noFill/>
        </p:spPr>
        <p:txBody>
          <a:bodyPr wrap="none" lIns="27432" rIns="27432" tIns="18288" bIns="18288">
            <a:spAutoFit/>
          </a:bodyPr>
          <a:lstStyle/>
          <a:p>
            <a:pPr algn="ctr"/>
            <a:r>
              <a:rPr sz="1600" b="1">
                <a:solidFill>
                  <a:srgbClr val="282D34"/>
                </a:solidFill>
                <a:latin typeface="Hiragino Sans"/>
              </a:rPr>
              <a:t>実証記録AI</a:t>
            </a:r>
          </a:p>
        </p:txBody>
      </p:sp>
      <p:sp>
        <p:nvSpPr>
          <p:cNvPr id="15" name="TextBox 14"/>
          <p:cNvSpPr txBox="1"/>
          <p:nvPr/>
        </p:nvSpPr>
        <p:spPr>
          <a:xfrm>
            <a:off x="2971800" y="2743200"/>
            <a:ext cx="1645920" cy="914400"/>
          </a:xfrm>
          <a:prstGeom prst="rect">
            <a:avLst/>
          </a:prstGeom>
          <a:noFill/>
        </p:spPr>
        <p:txBody>
          <a:bodyPr wrap="none" lIns="27432" rIns="27432" tIns="18288" bIns="18288">
            <a:spAutoFit/>
          </a:bodyPr>
          <a:lstStyle/>
          <a:p>
            <a:pPr algn="ctr"/>
            <a:r>
              <a:rPr sz="1200" b="0">
                <a:solidFill>
                  <a:srgbClr val="5B636E"/>
                </a:solidFill>
                <a:latin typeface="Hiragino Sans"/>
              </a:rPr>
              <a:t>撮影/音声メモ
レポート下書き
Excel入力補助</a:t>
            </a:r>
          </a:p>
        </p:txBody>
      </p:sp>
      <p:sp>
        <p:nvSpPr>
          <p:cNvPr id="16" name="TextBox 15"/>
          <p:cNvSpPr txBox="1"/>
          <p:nvPr/>
        </p:nvSpPr>
        <p:spPr>
          <a:xfrm>
            <a:off x="4800600" y="2743200"/>
            <a:ext cx="256032" cy="274320"/>
          </a:xfrm>
          <a:prstGeom prst="rect">
            <a:avLst/>
          </a:prstGeom>
          <a:noFill/>
        </p:spPr>
        <p:txBody>
          <a:bodyPr wrap="none" lIns="27432" rIns="27432" tIns="18288" bIns="18288">
            <a:spAutoFit/>
          </a:bodyPr>
          <a:lstStyle/>
          <a:p>
            <a:pPr algn="ctr"/>
            <a:r>
              <a:rPr sz="1800" b="1">
                <a:solidFill>
                  <a:srgbClr val="5B636E"/>
                </a:solidFill>
                <a:latin typeface="Hiragino Sans"/>
              </a:rPr>
              <a:t>→</a:t>
            </a:r>
          </a:p>
        </p:txBody>
      </p:sp>
      <p:sp>
        <p:nvSpPr>
          <p:cNvPr id="17" name="Rounded Rectangle 16"/>
          <p:cNvSpPr/>
          <p:nvPr/>
        </p:nvSpPr>
        <p:spPr>
          <a:xfrm>
            <a:off x="5111496" y="1298448"/>
            <a:ext cx="1993392" cy="3246120"/>
          </a:xfrm>
          <a:prstGeom prst="roundRect">
            <a:avLst>
              <a:gd name="adj" fmla="val 5000"/>
            </a:avLst>
          </a:prstGeom>
          <a:solidFill>
            <a:srgbClr val="FFFFFF"/>
          </a:solidFill>
          <a:ln>
            <a:solidFill>
              <a:srgbClr val="B87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21224" y="1600200"/>
            <a:ext cx="1737360" cy="228600"/>
          </a:xfrm>
          <a:prstGeom prst="rect">
            <a:avLst/>
          </a:prstGeom>
          <a:noFill/>
        </p:spPr>
        <p:txBody>
          <a:bodyPr wrap="none" lIns="27432" rIns="27432" tIns="18288" bIns="18288">
            <a:spAutoFit/>
          </a:bodyPr>
          <a:lstStyle/>
          <a:p>
            <a:pPr algn="ctr"/>
            <a:r>
              <a:rPr sz="1300" b="1">
                <a:solidFill>
                  <a:srgbClr val="B87818"/>
                </a:solidFill>
                <a:latin typeface="Hiragino Sans"/>
              </a:rPr>
              <a:t>Phase 2</a:t>
            </a:r>
          </a:p>
        </p:txBody>
      </p:sp>
      <p:sp>
        <p:nvSpPr>
          <p:cNvPr id="19" name="TextBox 18"/>
          <p:cNvSpPr txBox="1"/>
          <p:nvPr/>
        </p:nvSpPr>
        <p:spPr>
          <a:xfrm>
            <a:off x="5221224" y="2039112"/>
            <a:ext cx="1737360" cy="292608"/>
          </a:xfrm>
          <a:prstGeom prst="rect">
            <a:avLst/>
          </a:prstGeom>
          <a:noFill/>
        </p:spPr>
        <p:txBody>
          <a:bodyPr wrap="none" lIns="27432" rIns="27432" tIns="18288" bIns="18288">
            <a:spAutoFit/>
          </a:bodyPr>
          <a:lstStyle/>
          <a:p>
            <a:pPr algn="ctr"/>
            <a:r>
              <a:rPr sz="1600" b="1">
                <a:solidFill>
                  <a:srgbClr val="282D34"/>
                </a:solidFill>
                <a:latin typeface="Hiragino Sans"/>
              </a:rPr>
              <a:t>過去データ化</a:t>
            </a:r>
          </a:p>
        </p:txBody>
      </p:sp>
      <p:sp>
        <p:nvSpPr>
          <p:cNvPr id="20" name="TextBox 19"/>
          <p:cNvSpPr txBox="1"/>
          <p:nvPr/>
        </p:nvSpPr>
        <p:spPr>
          <a:xfrm>
            <a:off x="5276088" y="2743200"/>
            <a:ext cx="1645920" cy="914400"/>
          </a:xfrm>
          <a:prstGeom prst="rect">
            <a:avLst/>
          </a:prstGeom>
          <a:noFill/>
        </p:spPr>
        <p:txBody>
          <a:bodyPr wrap="none" lIns="27432" rIns="27432" tIns="18288" bIns="18288">
            <a:spAutoFit/>
          </a:bodyPr>
          <a:lstStyle/>
          <a:p>
            <a:pPr algn="ctr"/>
            <a:r>
              <a:rPr sz="1200" b="0">
                <a:solidFill>
                  <a:srgbClr val="5B636E"/>
                </a:solidFill>
                <a:latin typeface="Hiragino Sans"/>
              </a:rPr>
              <a:t>動画/メール/Excel
実証履歴DB化
暗黙知の棚卸し</a:t>
            </a:r>
          </a:p>
        </p:txBody>
      </p:sp>
      <p:sp>
        <p:nvSpPr>
          <p:cNvPr id="21" name="TextBox 20"/>
          <p:cNvSpPr txBox="1"/>
          <p:nvPr/>
        </p:nvSpPr>
        <p:spPr>
          <a:xfrm>
            <a:off x="7104888" y="2743200"/>
            <a:ext cx="256032" cy="274320"/>
          </a:xfrm>
          <a:prstGeom prst="rect">
            <a:avLst/>
          </a:prstGeom>
          <a:noFill/>
        </p:spPr>
        <p:txBody>
          <a:bodyPr wrap="none" lIns="27432" rIns="27432" tIns="18288" bIns="18288">
            <a:spAutoFit/>
          </a:bodyPr>
          <a:lstStyle/>
          <a:p>
            <a:pPr algn="ctr"/>
            <a:r>
              <a:rPr sz="1800" b="1">
                <a:solidFill>
                  <a:srgbClr val="5B636E"/>
                </a:solidFill>
                <a:latin typeface="Hiragino Sans"/>
              </a:rPr>
              <a:t>→</a:t>
            </a:r>
          </a:p>
        </p:txBody>
      </p:sp>
      <p:sp>
        <p:nvSpPr>
          <p:cNvPr id="22" name="Rounded Rectangle 21"/>
          <p:cNvSpPr/>
          <p:nvPr/>
        </p:nvSpPr>
        <p:spPr>
          <a:xfrm>
            <a:off x="7415784" y="1298448"/>
            <a:ext cx="1993392" cy="3246120"/>
          </a:xfrm>
          <a:prstGeom prst="roundRect">
            <a:avLst>
              <a:gd name="adj" fmla="val 5000"/>
            </a:avLst>
          </a:prstGeom>
          <a:solidFill>
            <a:srgbClr val="FFFFFF"/>
          </a:solidFill>
          <a:ln>
            <a:solidFill>
              <a:srgbClr val="1484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25512" y="1600200"/>
            <a:ext cx="1737360" cy="228600"/>
          </a:xfrm>
          <a:prstGeom prst="rect">
            <a:avLst/>
          </a:prstGeom>
          <a:noFill/>
        </p:spPr>
        <p:txBody>
          <a:bodyPr wrap="none" lIns="27432" rIns="27432" tIns="18288" bIns="18288">
            <a:spAutoFit/>
          </a:bodyPr>
          <a:lstStyle/>
          <a:p>
            <a:pPr algn="ctr"/>
            <a:r>
              <a:rPr sz="1300" b="1">
                <a:solidFill>
                  <a:srgbClr val="148454"/>
                </a:solidFill>
                <a:latin typeface="Hiragino Sans"/>
              </a:rPr>
              <a:t>Phase 3</a:t>
            </a:r>
          </a:p>
        </p:txBody>
      </p:sp>
      <p:sp>
        <p:nvSpPr>
          <p:cNvPr id="24" name="TextBox 23"/>
          <p:cNvSpPr txBox="1"/>
          <p:nvPr/>
        </p:nvSpPr>
        <p:spPr>
          <a:xfrm>
            <a:off x="7525512" y="2039112"/>
            <a:ext cx="1737360" cy="292608"/>
          </a:xfrm>
          <a:prstGeom prst="rect">
            <a:avLst/>
          </a:prstGeom>
          <a:noFill/>
        </p:spPr>
        <p:txBody>
          <a:bodyPr wrap="none" lIns="27432" rIns="27432" tIns="18288" bIns="18288">
            <a:spAutoFit/>
          </a:bodyPr>
          <a:lstStyle/>
          <a:p>
            <a:pPr algn="ctr"/>
            <a:r>
              <a:rPr sz="1600" b="1">
                <a:solidFill>
                  <a:srgbClr val="282D34"/>
                </a:solidFill>
                <a:latin typeface="Hiragino Sans"/>
              </a:rPr>
              <a:t>社内選定支援</a:t>
            </a:r>
          </a:p>
        </p:txBody>
      </p:sp>
      <p:sp>
        <p:nvSpPr>
          <p:cNvPr id="25" name="TextBox 24"/>
          <p:cNvSpPr txBox="1"/>
          <p:nvPr/>
        </p:nvSpPr>
        <p:spPr>
          <a:xfrm>
            <a:off x="7580376" y="2743200"/>
            <a:ext cx="1645920" cy="914400"/>
          </a:xfrm>
          <a:prstGeom prst="rect">
            <a:avLst/>
          </a:prstGeom>
          <a:noFill/>
        </p:spPr>
        <p:txBody>
          <a:bodyPr wrap="none" lIns="27432" rIns="27432" tIns="18288" bIns="18288">
            <a:spAutoFit/>
          </a:bodyPr>
          <a:lstStyle/>
          <a:p>
            <a:pPr algn="ctr"/>
            <a:r>
              <a:rPr sz="1200" b="0">
                <a:solidFill>
                  <a:srgbClr val="5B636E"/>
                </a:solidFill>
                <a:latin typeface="Hiragino Sans"/>
              </a:rPr>
              <a:t>類似ワーク検索
候補製品提示
ナレッジ共有</a:t>
            </a:r>
          </a:p>
        </p:txBody>
      </p:sp>
      <p:sp>
        <p:nvSpPr>
          <p:cNvPr id="26" name="TextBox 25"/>
          <p:cNvSpPr txBox="1"/>
          <p:nvPr/>
        </p:nvSpPr>
        <p:spPr>
          <a:xfrm>
            <a:off x="9409176" y="2743200"/>
            <a:ext cx="256032" cy="274320"/>
          </a:xfrm>
          <a:prstGeom prst="rect">
            <a:avLst/>
          </a:prstGeom>
          <a:noFill/>
        </p:spPr>
        <p:txBody>
          <a:bodyPr wrap="none" lIns="27432" rIns="27432" tIns="18288" bIns="18288">
            <a:spAutoFit/>
          </a:bodyPr>
          <a:lstStyle/>
          <a:p>
            <a:pPr algn="ctr"/>
            <a:r>
              <a:rPr sz="1800" b="1">
                <a:solidFill>
                  <a:srgbClr val="5B636E"/>
                </a:solidFill>
                <a:latin typeface="Hiragino Sans"/>
              </a:rPr>
              <a:t>→</a:t>
            </a:r>
          </a:p>
        </p:txBody>
      </p:sp>
      <p:sp>
        <p:nvSpPr>
          <p:cNvPr id="27" name="Rounded Rectangle 26"/>
          <p:cNvSpPr/>
          <p:nvPr/>
        </p:nvSpPr>
        <p:spPr>
          <a:xfrm>
            <a:off x="9720072" y="1298448"/>
            <a:ext cx="1993392" cy="3246120"/>
          </a:xfrm>
          <a:prstGeom prst="roundRect">
            <a:avLst>
              <a:gd name="adj" fmla="val 5000"/>
            </a:avLst>
          </a:prstGeom>
          <a:solidFill>
            <a:srgbClr val="FFFFFF"/>
          </a:solidFill>
          <a:ln>
            <a:solidFill>
              <a:srgbClr val="1484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9800" y="1600200"/>
            <a:ext cx="1737360" cy="228600"/>
          </a:xfrm>
          <a:prstGeom prst="rect">
            <a:avLst/>
          </a:prstGeom>
          <a:noFill/>
        </p:spPr>
        <p:txBody>
          <a:bodyPr wrap="none" lIns="27432" rIns="27432" tIns="18288" bIns="18288">
            <a:spAutoFit/>
          </a:bodyPr>
          <a:lstStyle/>
          <a:p>
            <a:pPr algn="ctr"/>
            <a:r>
              <a:rPr sz="1300" b="1">
                <a:solidFill>
                  <a:srgbClr val="148454"/>
                </a:solidFill>
                <a:latin typeface="Hiragino Sans"/>
              </a:rPr>
              <a:t>Phase 4</a:t>
            </a:r>
          </a:p>
        </p:txBody>
      </p:sp>
      <p:sp>
        <p:nvSpPr>
          <p:cNvPr id="29" name="TextBox 28"/>
          <p:cNvSpPr txBox="1"/>
          <p:nvPr/>
        </p:nvSpPr>
        <p:spPr>
          <a:xfrm>
            <a:off x="9829800" y="2039112"/>
            <a:ext cx="1737360" cy="292608"/>
          </a:xfrm>
          <a:prstGeom prst="rect">
            <a:avLst/>
          </a:prstGeom>
          <a:noFill/>
        </p:spPr>
        <p:txBody>
          <a:bodyPr wrap="none" lIns="27432" rIns="27432" tIns="18288" bIns="18288">
            <a:spAutoFit/>
          </a:bodyPr>
          <a:lstStyle/>
          <a:p>
            <a:pPr algn="ctr"/>
            <a:r>
              <a:rPr sz="1600" b="1">
                <a:solidFill>
                  <a:srgbClr val="282D34"/>
                </a:solidFill>
                <a:latin typeface="Hiragino Sans"/>
              </a:rPr>
              <a:t>顧客向け展開</a:t>
            </a:r>
          </a:p>
        </p:txBody>
      </p:sp>
      <p:sp>
        <p:nvSpPr>
          <p:cNvPr id="30" name="TextBox 29"/>
          <p:cNvSpPr txBox="1"/>
          <p:nvPr/>
        </p:nvSpPr>
        <p:spPr>
          <a:xfrm>
            <a:off x="9884664" y="2743200"/>
            <a:ext cx="1645920" cy="914400"/>
          </a:xfrm>
          <a:prstGeom prst="rect">
            <a:avLst/>
          </a:prstGeom>
          <a:noFill/>
        </p:spPr>
        <p:txBody>
          <a:bodyPr wrap="none" lIns="27432" rIns="27432" tIns="18288" bIns="18288">
            <a:spAutoFit/>
          </a:bodyPr>
          <a:lstStyle/>
          <a:p>
            <a:pPr algn="ctr"/>
            <a:r>
              <a:rPr sz="1200" b="0">
                <a:solidFill>
                  <a:srgbClr val="5B636E"/>
                </a:solidFill>
                <a:latin typeface="Hiragino Sans"/>
              </a:rPr>
              <a:t>一次見積もり
製品選定支援
マーケットプレイス</a:t>
            </a:r>
          </a:p>
        </p:txBody>
      </p:sp>
      <p:sp>
        <p:nvSpPr>
          <p:cNvPr id="31" name="TextBox 30"/>
          <p:cNvSpPr txBox="1"/>
          <p:nvPr/>
        </p:nvSpPr>
        <p:spPr>
          <a:xfrm>
            <a:off x="777240" y="5166360"/>
            <a:ext cx="10515600" cy="475488"/>
          </a:xfrm>
          <a:prstGeom prst="rect">
            <a:avLst/>
          </a:prstGeom>
          <a:noFill/>
        </p:spPr>
        <p:txBody>
          <a:bodyPr wrap="none" lIns="27432" rIns="27432" tIns="18288" bIns="18288">
            <a:spAutoFit/>
          </a:bodyPr>
          <a:lstStyle/>
          <a:p>
            <a:r>
              <a:rPr sz="2100" b="1">
                <a:solidFill>
                  <a:srgbClr val="C00000"/>
                </a:solidFill>
                <a:latin typeface="Hiragino Sans"/>
              </a:rPr>
              <a:t>まず社内業務の効率化とデータ蓄積を実現し、精度と責任範囲を確認してから顧客向けへ広げる。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9875520" cy="411480"/>
          </a:xfrm>
          <a:prstGeom prst="rect">
            <a:avLst/>
          </a:prstGeom>
          <a:noFill/>
        </p:spPr>
        <p:txBody>
          <a:bodyPr wrap="none" lIns="27432" rIns="27432" tIns="18288" bIns="18288">
            <a:spAutoFit/>
          </a:bodyPr>
          <a:lstStyle/>
          <a:p>
            <a:r>
              <a:rPr sz="2400" b="1">
                <a:solidFill>
                  <a:srgbClr val="282D34"/>
                </a:solidFill>
                <a:latin typeface="Hiragino Sans"/>
              </a:rPr>
              <a:t>PoC案: 小さく始めて、効果と適合性を確認する</a:t>
            </a:r>
          </a:p>
        </p:txBody>
      </p:sp>
      <p:sp>
        <p:nvSpPr>
          <p:cNvPr id="3" name="TextBox 2"/>
          <p:cNvSpPr txBox="1"/>
          <p:nvPr/>
        </p:nvSpPr>
        <p:spPr>
          <a:xfrm>
            <a:off x="10058400" y="283464"/>
            <a:ext cx="1554480" cy="320040"/>
          </a:xfrm>
          <a:prstGeom prst="rect">
            <a:avLst/>
          </a:prstGeom>
          <a:noFill/>
        </p:spPr>
        <p:txBody>
          <a:bodyPr wrap="none" lIns="27432" rIns="27432" tIns="18288" bIns="18288">
            <a:spAutoFit/>
          </a:bodyPr>
          <a:lstStyle/>
          <a:p>
            <a:pPr algn="r"/>
            <a:r>
              <a:rPr sz="1000" b="1">
                <a:solidFill>
                  <a:srgbClr val="5B636E"/>
                </a:solidFill>
                <a:latin typeface="Hiragino Sans"/>
              </a:rPr>
              <a:t>PoC Scope</a:t>
            </a:r>
          </a:p>
        </p:txBody>
      </p:sp>
      <p:sp>
        <p:nvSpPr>
          <p:cNvPr id="4" name="Rectangle 3"/>
          <p:cNvSpPr/>
          <p:nvPr/>
        </p:nvSpPr>
        <p:spPr>
          <a:xfrm>
            <a:off x="502920" y="758952"/>
            <a:ext cx="11155680" cy="18288"/>
          </a:xfrm>
          <a:prstGeom prst="rect">
            <a:avLst/>
          </a:prstGeom>
          <a:solidFill>
            <a:srgbClr val="DA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4572000" cy="201168"/>
          </a:xfrm>
          <a:prstGeom prst="rect">
            <a:avLst/>
          </a:prstGeom>
          <a:noFill/>
        </p:spPr>
        <p:txBody>
          <a:bodyPr wrap="none" lIns="27432" rIns="27432" tIns="18288" bIns="18288">
            <a:spAutoFit/>
          </a:bodyPr>
          <a:lstStyle/>
          <a:p>
            <a:r>
              <a:rPr sz="800" b="0">
                <a:solidFill>
                  <a:srgbClr val="5B636E"/>
                </a:solidFill>
                <a:latin typeface="Hiragino Sans"/>
              </a:rPr>
              <a:t>SMC様向け ワーク実証記録AI化 初期提案</a:t>
            </a:r>
          </a:p>
        </p:txBody>
      </p:sp>
      <p:sp>
        <p:nvSpPr>
          <p:cNvPr id="6" name="TextBox 5"/>
          <p:cNvSpPr txBox="1"/>
          <p:nvPr/>
        </p:nvSpPr>
        <p:spPr>
          <a:xfrm>
            <a:off x="10789920" y="6446520"/>
            <a:ext cx="822960" cy="201168"/>
          </a:xfrm>
          <a:prstGeom prst="rect">
            <a:avLst/>
          </a:prstGeom>
          <a:noFill/>
        </p:spPr>
        <p:txBody>
          <a:bodyPr wrap="none" lIns="27432" rIns="27432" tIns="18288" bIns="18288">
            <a:spAutoFit/>
          </a:bodyPr>
          <a:lstStyle/>
          <a:p>
            <a:pPr algn="r"/>
            <a:r>
              <a:rPr sz="800" b="0">
                <a:solidFill>
                  <a:srgbClr val="5B636E"/>
                </a:solidFill>
                <a:latin typeface="Hiragino Sans"/>
              </a:rPr>
              <a:t>8</a:t>
            </a:r>
          </a:p>
        </p:txBody>
      </p:sp>
      <p:sp>
        <p:nvSpPr>
          <p:cNvPr id="7" name="Rounded Rectangle 6"/>
          <p:cNvSpPr/>
          <p:nvPr/>
        </p:nvSpPr>
        <p:spPr>
          <a:xfrm>
            <a:off x="731520" y="1234440"/>
            <a:ext cx="3429000" cy="3383280"/>
          </a:xfrm>
          <a:prstGeom prst="roundRect">
            <a:avLst>
              <a:gd name="adj" fmla="val 5000"/>
            </a:avLst>
          </a:prstGeom>
          <a:solidFill>
            <a:srgbClr val="FFFFFF"/>
          </a:solidFill>
          <a:ln>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234440"/>
            <a:ext cx="73152" cy="3383280"/>
          </a:xfrm>
          <a:prstGeom prst="rect">
            <a:avLst/>
          </a:prstGeom>
          <a:solidFill>
            <a:srgbClr val="1C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389888"/>
            <a:ext cx="3081528" cy="320040"/>
          </a:xfrm>
          <a:prstGeom prst="rect">
            <a:avLst/>
          </a:prstGeom>
          <a:noFill/>
        </p:spPr>
        <p:txBody>
          <a:bodyPr wrap="none" lIns="27432" rIns="27432" tIns="18288" bIns="18288">
            <a:spAutoFit/>
          </a:bodyPr>
          <a:lstStyle/>
          <a:p>
            <a:r>
              <a:rPr sz="1700" b="1">
                <a:solidFill>
                  <a:srgbClr val="282D34"/>
                </a:solidFill>
                <a:latin typeface="Hiragino Sans"/>
              </a:rPr>
              <a:t>対象範囲</a:t>
            </a:r>
          </a:p>
        </p:txBody>
      </p:sp>
      <p:sp>
        <p:nvSpPr>
          <p:cNvPr id="10" name="TextBox 9"/>
          <p:cNvSpPr txBox="1"/>
          <p:nvPr/>
        </p:nvSpPr>
        <p:spPr>
          <a:xfrm>
            <a:off x="932688" y="1856232"/>
            <a:ext cx="3081528" cy="2633472"/>
          </a:xfrm>
          <a:prstGeom prst="rect">
            <a:avLst/>
          </a:prstGeom>
          <a:noFill/>
        </p:spPr>
        <p:txBody>
          <a:bodyPr wrap="square" lIns="45720" rIns="45720" tIns="18288" bIns="18288">
            <a:spAutoFit/>
          </a:bodyPr>
          <a:lstStyle/>
          <a:p>
            <a:pPr>
              <a:spcAft>
                <a:spcPts val="700"/>
              </a:spcAft>
              <a:defRPr sz="1500">
                <a:solidFill>
                  <a:srgbClr val="5B636E"/>
                </a:solidFill>
                <a:latin typeface="Hiragino Sans"/>
              </a:defRPr>
            </a:pPr>
            <a:r>
              <a:t>柏の葉キャンパスの一部案件</a:t>
            </a:r>
          </a:p>
          <a:p>
            <a:pPr>
              <a:spcAft>
                <a:spcPts val="700"/>
              </a:spcAft>
              <a:defRPr sz="1500">
                <a:solidFill>
                  <a:srgbClr val="5B636E"/>
                </a:solidFill>
                <a:latin typeface="Hiragino Sans"/>
              </a:defRPr>
            </a:pPr>
            <a:r>
              <a:t>月10件程度を想定</a:t>
            </a:r>
          </a:p>
          <a:p>
            <a:pPr>
              <a:spcAft>
                <a:spcPts val="700"/>
              </a:spcAft>
              <a:defRPr sz="1500">
                <a:solidFill>
                  <a:srgbClr val="5B636E"/>
                </a:solidFill>
                <a:latin typeface="Hiragino Sans"/>
              </a:defRPr>
            </a:pPr>
            <a:r>
              <a:t>既存Excel/報告フォーマットをベース</a:t>
            </a:r>
          </a:p>
          <a:p>
            <a:pPr>
              <a:spcAft>
                <a:spcPts val="700"/>
              </a:spcAft>
              <a:defRPr sz="1500">
                <a:solidFill>
                  <a:srgbClr val="5B636E"/>
                </a:solidFill>
                <a:latin typeface="Hiragino Sans"/>
              </a:defRPr>
            </a:pPr>
            <a:r>
              <a:t>顧客名・案件名は必要に応じて匿名化</a:t>
            </a:r>
          </a:p>
        </p:txBody>
      </p:sp>
      <p:sp>
        <p:nvSpPr>
          <p:cNvPr id="11" name="Rounded Rectangle 10"/>
          <p:cNvSpPr/>
          <p:nvPr/>
        </p:nvSpPr>
        <p:spPr>
          <a:xfrm>
            <a:off x="4389120" y="1234440"/>
            <a:ext cx="3429000" cy="3383280"/>
          </a:xfrm>
          <a:prstGeom prst="roundRect">
            <a:avLst>
              <a:gd name="adj" fmla="val 5000"/>
            </a:avLst>
          </a:prstGeom>
          <a:solidFill>
            <a:srgbClr val="FFFFFF"/>
          </a:solidFill>
          <a:ln>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234440"/>
            <a:ext cx="73152" cy="3383280"/>
          </a:xfrm>
          <a:prstGeom prst="rect">
            <a:avLst/>
          </a:prstGeom>
          <a:solidFill>
            <a:srgbClr val="B87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389888"/>
            <a:ext cx="3081528" cy="320040"/>
          </a:xfrm>
          <a:prstGeom prst="rect">
            <a:avLst/>
          </a:prstGeom>
          <a:noFill/>
        </p:spPr>
        <p:txBody>
          <a:bodyPr wrap="none" lIns="27432" rIns="27432" tIns="18288" bIns="18288">
            <a:spAutoFit/>
          </a:bodyPr>
          <a:lstStyle/>
          <a:p>
            <a:r>
              <a:rPr sz="1700" b="1">
                <a:solidFill>
                  <a:srgbClr val="282D34"/>
                </a:solidFill>
                <a:latin typeface="Hiragino Sans"/>
              </a:rPr>
              <a:t>検証内容</a:t>
            </a:r>
          </a:p>
        </p:txBody>
      </p:sp>
      <p:sp>
        <p:nvSpPr>
          <p:cNvPr id="14" name="TextBox 13"/>
          <p:cNvSpPr txBox="1"/>
          <p:nvPr/>
        </p:nvSpPr>
        <p:spPr>
          <a:xfrm>
            <a:off x="4590288" y="1856232"/>
            <a:ext cx="3081528" cy="2633472"/>
          </a:xfrm>
          <a:prstGeom prst="rect">
            <a:avLst/>
          </a:prstGeom>
          <a:noFill/>
        </p:spPr>
        <p:txBody>
          <a:bodyPr wrap="square" lIns="45720" rIns="45720" tIns="18288" bIns="18288">
            <a:spAutoFit/>
          </a:bodyPr>
          <a:lstStyle/>
          <a:p>
            <a:pPr>
              <a:spcAft>
                <a:spcPts val="700"/>
              </a:spcAft>
              <a:defRPr sz="1500">
                <a:solidFill>
                  <a:srgbClr val="5B636E"/>
                </a:solidFill>
                <a:latin typeface="Hiragino Sans"/>
              </a:defRPr>
            </a:pPr>
            <a:r>
              <a:t>スマホ撮影/音声メモの入力</a:t>
            </a:r>
          </a:p>
          <a:p>
            <a:pPr>
              <a:spcAft>
                <a:spcPts val="700"/>
              </a:spcAft>
              <a:defRPr sz="1500">
                <a:solidFill>
                  <a:srgbClr val="5B636E"/>
                </a:solidFill>
                <a:latin typeface="Hiragino Sans"/>
              </a:defRPr>
            </a:pPr>
            <a:r>
              <a:t>AIによる文字起こし・項目抽出</a:t>
            </a:r>
          </a:p>
          <a:p>
            <a:pPr>
              <a:spcAft>
                <a:spcPts val="700"/>
              </a:spcAft>
              <a:defRPr sz="1500">
                <a:solidFill>
                  <a:srgbClr val="5B636E"/>
                </a:solidFill>
                <a:latin typeface="Hiragino Sans"/>
              </a:defRPr>
            </a:pPr>
            <a:r>
              <a:t>レポート/Excel下書き生成</a:t>
            </a:r>
          </a:p>
          <a:p>
            <a:pPr>
              <a:spcAft>
                <a:spcPts val="700"/>
              </a:spcAft>
              <a:defRPr sz="1500">
                <a:solidFill>
                  <a:srgbClr val="5B636E"/>
                </a:solidFill>
                <a:latin typeface="Hiragino Sans"/>
              </a:defRPr>
            </a:pPr>
            <a:r>
              <a:t>担当者レビューで品質確認</a:t>
            </a:r>
          </a:p>
        </p:txBody>
      </p:sp>
      <p:sp>
        <p:nvSpPr>
          <p:cNvPr id="15" name="Rounded Rectangle 14"/>
          <p:cNvSpPr/>
          <p:nvPr/>
        </p:nvSpPr>
        <p:spPr>
          <a:xfrm>
            <a:off x="8046720" y="1234440"/>
            <a:ext cx="3429000" cy="3383280"/>
          </a:xfrm>
          <a:prstGeom prst="roundRect">
            <a:avLst>
              <a:gd name="adj" fmla="val 5000"/>
            </a:avLst>
          </a:prstGeom>
          <a:solidFill>
            <a:srgbClr val="FFFFFF"/>
          </a:solidFill>
          <a:ln>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234440"/>
            <a:ext cx="73152" cy="3383280"/>
          </a:xfrm>
          <a:prstGeom prst="rect">
            <a:avLst/>
          </a:prstGeom>
          <a:solidFill>
            <a:srgbClr val="148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1389888"/>
            <a:ext cx="3081528" cy="320040"/>
          </a:xfrm>
          <a:prstGeom prst="rect">
            <a:avLst/>
          </a:prstGeom>
          <a:noFill/>
        </p:spPr>
        <p:txBody>
          <a:bodyPr wrap="none" lIns="27432" rIns="27432" tIns="18288" bIns="18288">
            <a:spAutoFit/>
          </a:bodyPr>
          <a:lstStyle/>
          <a:p>
            <a:r>
              <a:rPr sz="1700" b="1">
                <a:solidFill>
                  <a:srgbClr val="282D34"/>
                </a:solidFill>
                <a:latin typeface="Hiragino Sans"/>
              </a:rPr>
              <a:t>成功基準</a:t>
            </a:r>
          </a:p>
        </p:txBody>
      </p:sp>
      <p:sp>
        <p:nvSpPr>
          <p:cNvPr id="18" name="TextBox 17"/>
          <p:cNvSpPr txBox="1"/>
          <p:nvPr/>
        </p:nvSpPr>
        <p:spPr>
          <a:xfrm>
            <a:off x="8247888" y="1856232"/>
            <a:ext cx="3081528" cy="2633472"/>
          </a:xfrm>
          <a:prstGeom prst="rect">
            <a:avLst/>
          </a:prstGeom>
          <a:noFill/>
        </p:spPr>
        <p:txBody>
          <a:bodyPr wrap="square" lIns="45720" rIns="45720" tIns="18288" bIns="18288">
            <a:spAutoFit/>
          </a:bodyPr>
          <a:lstStyle/>
          <a:p>
            <a:pPr>
              <a:spcAft>
                <a:spcPts val="700"/>
              </a:spcAft>
              <a:defRPr sz="1500">
                <a:solidFill>
                  <a:srgbClr val="5B636E"/>
                </a:solidFill>
                <a:latin typeface="Hiragino Sans"/>
              </a:defRPr>
            </a:pPr>
            <a:r>
              <a:t>作成時間50%以上削減</a:t>
            </a:r>
          </a:p>
          <a:p>
            <a:pPr>
              <a:spcAft>
                <a:spcPts val="700"/>
              </a:spcAft>
              <a:defRPr sz="1500">
                <a:solidFill>
                  <a:srgbClr val="5B636E"/>
                </a:solidFill>
                <a:latin typeface="Hiragino Sans"/>
              </a:defRPr>
            </a:pPr>
            <a:r>
              <a:t>必須項目80%以上を下書き化</a:t>
            </a:r>
          </a:p>
          <a:p>
            <a:pPr>
              <a:spcAft>
                <a:spcPts val="700"/>
              </a:spcAft>
              <a:defRPr sz="1500">
                <a:solidFill>
                  <a:srgbClr val="5B636E"/>
                </a:solidFill>
                <a:latin typeface="Hiragino Sans"/>
              </a:defRPr>
            </a:pPr>
            <a:r>
              <a:t>検索可能な実証データが残る</a:t>
            </a:r>
          </a:p>
          <a:p>
            <a:pPr>
              <a:spcAft>
                <a:spcPts val="700"/>
              </a:spcAft>
              <a:defRPr sz="1500">
                <a:solidFill>
                  <a:srgbClr val="5B636E"/>
                </a:solidFill>
                <a:latin typeface="Hiragino Sans"/>
              </a:defRPr>
            </a:pPr>
            <a:r>
              <a:t>SMC様ポリシー上継続可能</a:t>
            </a:r>
          </a:p>
        </p:txBody>
      </p:sp>
      <p:sp>
        <p:nvSpPr>
          <p:cNvPr id="19" name="TextBox 18"/>
          <p:cNvSpPr txBox="1"/>
          <p:nvPr/>
        </p:nvSpPr>
        <p:spPr>
          <a:xfrm>
            <a:off x="868680" y="5230368"/>
            <a:ext cx="10424160" cy="457200"/>
          </a:xfrm>
          <a:prstGeom prst="rect">
            <a:avLst/>
          </a:prstGeom>
          <a:noFill/>
        </p:spPr>
        <p:txBody>
          <a:bodyPr wrap="none" lIns="27432" rIns="27432" tIns="18288" bIns="18288">
            <a:spAutoFit/>
          </a:bodyPr>
          <a:lstStyle/>
          <a:p>
            <a:pPr algn="ctr"/>
            <a:r>
              <a:rPr sz="2100" b="1">
                <a:solidFill>
                  <a:srgbClr val="282D34"/>
                </a:solidFill>
                <a:latin typeface="Hiragino Sans"/>
              </a:rPr>
              <a:t>PoCのゴールは「自動見積もり」ではなく、実証記録AIが現場で使えるかを確認すること。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9875520" cy="411480"/>
          </a:xfrm>
          <a:prstGeom prst="rect">
            <a:avLst/>
          </a:prstGeom>
          <a:noFill/>
        </p:spPr>
        <p:txBody>
          <a:bodyPr wrap="none" lIns="27432" rIns="27432" tIns="18288" bIns="18288">
            <a:spAutoFit/>
          </a:bodyPr>
          <a:lstStyle/>
          <a:p>
            <a:r>
              <a:rPr sz="2400" b="1">
                <a:solidFill>
                  <a:srgbClr val="282D34"/>
                </a:solidFill>
                <a:latin typeface="Hiragino Sans"/>
              </a:rPr>
              <a:t>AIポリシー/セキュリティ確認事項</a:t>
            </a:r>
          </a:p>
        </p:txBody>
      </p:sp>
      <p:sp>
        <p:nvSpPr>
          <p:cNvPr id="3" name="TextBox 2"/>
          <p:cNvSpPr txBox="1"/>
          <p:nvPr/>
        </p:nvSpPr>
        <p:spPr>
          <a:xfrm>
            <a:off x="10058400" y="283464"/>
            <a:ext cx="1554480" cy="320040"/>
          </a:xfrm>
          <a:prstGeom prst="rect">
            <a:avLst/>
          </a:prstGeom>
          <a:noFill/>
        </p:spPr>
        <p:txBody>
          <a:bodyPr wrap="none" lIns="27432" rIns="27432" tIns="18288" bIns="18288">
            <a:spAutoFit/>
          </a:bodyPr>
          <a:lstStyle/>
          <a:p>
            <a:pPr algn="r"/>
            <a:r>
              <a:rPr sz="1000" b="1">
                <a:solidFill>
                  <a:srgbClr val="5B636E"/>
                </a:solidFill>
                <a:latin typeface="Hiragino Sans"/>
              </a:rPr>
              <a:t>Policy Check</a:t>
            </a:r>
          </a:p>
        </p:txBody>
      </p:sp>
      <p:sp>
        <p:nvSpPr>
          <p:cNvPr id="4" name="Rectangle 3"/>
          <p:cNvSpPr/>
          <p:nvPr/>
        </p:nvSpPr>
        <p:spPr>
          <a:xfrm>
            <a:off x="502920" y="758952"/>
            <a:ext cx="11155680" cy="18288"/>
          </a:xfrm>
          <a:prstGeom prst="rect">
            <a:avLst/>
          </a:prstGeom>
          <a:solidFill>
            <a:srgbClr val="DA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4572000" cy="201168"/>
          </a:xfrm>
          <a:prstGeom prst="rect">
            <a:avLst/>
          </a:prstGeom>
          <a:noFill/>
        </p:spPr>
        <p:txBody>
          <a:bodyPr wrap="none" lIns="27432" rIns="27432" tIns="18288" bIns="18288">
            <a:spAutoFit/>
          </a:bodyPr>
          <a:lstStyle/>
          <a:p>
            <a:r>
              <a:rPr sz="800" b="0">
                <a:solidFill>
                  <a:srgbClr val="5B636E"/>
                </a:solidFill>
                <a:latin typeface="Hiragino Sans"/>
              </a:rPr>
              <a:t>SMC様向け ワーク実証記録AI化 初期提案</a:t>
            </a:r>
          </a:p>
        </p:txBody>
      </p:sp>
      <p:sp>
        <p:nvSpPr>
          <p:cNvPr id="6" name="TextBox 5"/>
          <p:cNvSpPr txBox="1"/>
          <p:nvPr/>
        </p:nvSpPr>
        <p:spPr>
          <a:xfrm>
            <a:off x="10789920" y="6446520"/>
            <a:ext cx="822960" cy="201168"/>
          </a:xfrm>
          <a:prstGeom prst="rect">
            <a:avLst/>
          </a:prstGeom>
          <a:noFill/>
        </p:spPr>
        <p:txBody>
          <a:bodyPr wrap="none" lIns="27432" rIns="27432" tIns="18288" bIns="18288">
            <a:spAutoFit/>
          </a:bodyPr>
          <a:lstStyle/>
          <a:p>
            <a:pPr algn="r"/>
            <a:r>
              <a:rPr sz="800" b="0">
                <a:solidFill>
                  <a:srgbClr val="5B636E"/>
                </a:solidFill>
                <a:latin typeface="Hiragino Sans"/>
              </a:rPr>
              <a:t>9</a:t>
            </a:r>
          </a:p>
        </p:txBody>
      </p:sp>
      <p:sp>
        <p:nvSpPr>
          <p:cNvPr id="7" name="Rounded Rectangle 6"/>
          <p:cNvSpPr/>
          <p:nvPr/>
        </p:nvSpPr>
        <p:spPr>
          <a:xfrm>
            <a:off x="685800" y="1143000"/>
            <a:ext cx="3474720" cy="4251960"/>
          </a:xfrm>
          <a:prstGeom prst="roundRect">
            <a:avLst>
              <a:gd name="adj" fmla="val 5000"/>
            </a:avLst>
          </a:prstGeom>
          <a:solidFill>
            <a:srgbClr val="FFFFFF"/>
          </a:solidFill>
          <a:ln>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143000"/>
            <a:ext cx="73152" cy="42519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298448"/>
            <a:ext cx="3127248" cy="320040"/>
          </a:xfrm>
          <a:prstGeom prst="rect">
            <a:avLst/>
          </a:prstGeom>
          <a:noFill/>
        </p:spPr>
        <p:txBody>
          <a:bodyPr wrap="none" lIns="27432" rIns="27432" tIns="18288" bIns="18288">
            <a:spAutoFit/>
          </a:bodyPr>
          <a:lstStyle/>
          <a:p>
            <a:r>
              <a:rPr sz="1700" b="1">
                <a:solidFill>
                  <a:srgbClr val="282D34"/>
                </a:solidFill>
                <a:latin typeface="Hiragino Sans"/>
              </a:rPr>
              <a:t>1. データ分類</a:t>
            </a:r>
          </a:p>
        </p:txBody>
      </p:sp>
      <p:sp>
        <p:nvSpPr>
          <p:cNvPr id="10" name="TextBox 9"/>
          <p:cNvSpPr txBox="1"/>
          <p:nvPr/>
        </p:nvSpPr>
        <p:spPr>
          <a:xfrm>
            <a:off x="886968" y="1764792"/>
            <a:ext cx="3127248" cy="3502152"/>
          </a:xfrm>
          <a:prstGeom prst="rect">
            <a:avLst/>
          </a:prstGeom>
          <a:noFill/>
        </p:spPr>
        <p:txBody>
          <a:bodyPr wrap="square" lIns="45720" rIns="45720" tIns="18288" bIns="18288">
            <a:spAutoFit/>
          </a:bodyPr>
          <a:lstStyle/>
          <a:p>
            <a:pPr>
              <a:spcAft>
                <a:spcPts val="700"/>
              </a:spcAft>
              <a:defRPr sz="1500">
                <a:solidFill>
                  <a:srgbClr val="5B636E"/>
                </a:solidFill>
                <a:latin typeface="Hiragino Sans"/>
              </a:defRPr>
            </a:pPr>
            <a:r>
              <a:t>顧客ワーク画像/動画</a:t>
            </a:r>
          </a:p>
          <a:p>
            <a:pPr>
              <a:spcAft>
                <a:spcPts val="700"/>
              </a:spcAft>
              <a:defRPr sz="1500">
                <a:solidFill>
                  <a:srgbClr val="5B636E"/>
                </a:solidFill>
                <a:latin typeface="Hiragino Sans"/>
              </a:defRPr>
            </a:pPr>
            <a:r>
              <a:t>実証条件・使用製品</a:t>
            </a:r>
          </a:p>
          <a:p>
            <a:pPr>
              <a:spcAft>
                <a:spcPts val="700"/>
              </a:spcAft>
              <a:defRPr sz="1500">
                <a:solidFill>
                  <a:srgbClr val="5B636E"/>
                </a:solidFill>
                <a:latin typeface="Hiragino Sans"/>
              </a:defRPr>
            </a:pPr>
            <a:r>
              <a:t>実証結果・失敗理由</a:t>
            </a:r>
          </a:p>
          <a:p>
            <a:pPr>
              <a:spcAft>
                <a:spcPts val="700"/>
              </a:spcAft>
              <a:defRPr sz="1500">
                <a:solidFill>
                  <a:srgbClr val="5B636E"/>
                </a:solidFill>
                <a:latin typeface="Hiragino Sans"/>
              </a:defRPr>
            </a:pPr>
            <a:r>
              <a:t>顧客名/案件名/用途</a:t>
            </a:r>
          </a:p>
          <a:p>
            <a:pPr>
              <a:spcAft>
                <a:spcPts val="700"/>
              </a:spcAft>
              <a:defRPr sz="1500">
                <a:solidFill>
                  <a:srgbClr val="5B636E"/>
                </a:solidFill>
                <a:latin typeface="Hiragino Sans"/>
              </a:defRPr>
            </a:pPr>
            <a:r>
              <a:t>担当者の音声メモ</a:t>
            </a:r>
          </a:p>
        </p:txBody>
      </p:sp>
      <p:sp>
        <p:nvSpPr>
          <p:cNvPr id="11" name="Rounded Rectangle 10"/>
          <p:cNvSpPr/>
          <p:nvPr/>
        </p:nvSpPr>
        <p:spPr>
          <a:xfrm>
            <a:off x="4389120" y="1143000"/>
            <a:ext cx="3474720" cy="4251960"/>
          </a:xfrm>
          <a:prstGeom prst="roundRect">
            <a:avLst>
              <a:gd name="adj" fmla="val 5000"/>
            </a:avLst>
          </a:prstGeom>
          <a:solidFill>
            <a:srgbClr val="FFFFFF"/>
          </a:solidFill>
          <a:ln>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143000"/>
            <a:ext cx="73152" cy="4251960"/>
          </a:xfrm>
          <a:prstGeom prst="rect">
            <a:avLst/>
          </a:prstGeom>
          <a:solidFill>
            <a:srgbClr val="1C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298448"/>
            <a:ext cx="3127248" cy="320040"/>
          </a:xfrm>
          <a:prstGeom prst="rect">
            <a:avLst/>
          </a:prstGeom>
          <a:noFill/>
        </p:spPr>
        <p:txBody>
          <a:bodyPr wrap="none" lIns="27432" rIns="27432" tIns="18288" bIns="18288">
            <a:spAutoFit/>
          </a:bodyPr>
          <a:lstStyle/>
          <a:p>
            <a:r>
              <a:rPr sz="1700" b="1">
                <a:solidFill>
                  <a:srgbClr val="282D34"/>
                </a:solidFill>
                <a:latin typeface="Hiragino Sans"/>
              </a:rPr>
              <a:t>2. AI基盤</a:t>
            </a:r>
          </a:p>
        </p:txBody>
      </p:sp>
      <p:sp>
        <p:nvSpPr>
          <p:cNvPr id="14" name="TextBox 13"/>
          <p:cNvSpPr txBox="1"/>
          <p:nvPr/>
        </p:nvSpPr>
        <p:spPr>
          <a:xfrm>
            <a:off x="4590288" y="1764792"/>
            <a:ext cx="3127248" cy="3502152"/>
          </a:xfrm>
          <a:prstGeom prst="rect">
            <a:avLst/>
          </a:prstGeom>
          <a:noFill/>
        </p:spPr>
        <p:txBody>
          <a:bodyPr wrap="square" lIns="45720" rIns="45720" tIns="18288" bIns="18288">
            <a:spAutoFit/>
          </a:bodyPr>
          <a:lstStyle/>
          <a:p>
            <a:pPr>
              <a:spcAft>
                <a:spcPts val="700"/>
              </a:spcAft>
              <a:defRPr sz="1500">
                <a:solidFill>
                  <a:srgbClr val="5B636E"/>
                </a:solidFill>
                <a:latin typeface="Hiragino Sans"/>
              </a:defRPr>
            </a:pPr>
            <a:r>
              <a:t>OpenAI/Anthropic APIの可否</a:t>
            </a:r>
          </a:p>
          <a:p>
            <a:pPr>
              <a:spcAft>
                <a:spcPts val="700"/>
              </a:spcAft>
              <a:defRPr sz="1500">
                <a:solidFill>
                  <a:srgbClr val="5B636E"/>
                </a:solidFill>
                <a:latin typeface="Hiragino Sans"/>
              </a:defRPr>
            </a:pPr>
            <a:r>
              <a:t>Azure OpenAI利用可否</a:t>
            </a:r>
          </a:p>
          <a:p>
            <a:pPr>
              <a:spcAft>
                <a:spcPts val="700"/>
              </a:spcAft>
              <a:defRPr sz="1500">
                <a:solidFill>
                  <a:srgbClr val="5B636E"/>
                </a:solidFill>
                <a:latin typeface="Hiragino Sans"/>
              </a:defRPr>
            </a:pPr>
            <a:r>
              <a:t>SMC様既存AI基盤の有無</a:t>
            </a:r>
          </a:p>
          <a:p>
            <a:pPr>
              <a:spcAft>
                <a:spcPts val="700"/>
              </a:spcAft>
              <a:defRPr sz="1500">
                <a:solidFill>
                  <a:srgbClr val="5B636E"/>
                </a:solidFill>
                <a:latin typeface="Hiragino Sans"/>
              </a:defRPr>
            </a:pPr>
            <a:r>
              <a:t>閉域/ローカルLLM要否</a:t>
            </a:r>
          </a:p>
          <a:p>
            <a:pPr>
              <a:spcAft>
                <a:spcPts val="700"/>
              </a:spcAft>
              <a:defRPr sz="1500">
                <a:solidFill>
                  <a:srgbClr val="5B636E"/>
                </a:solidFill>
                <a:latin typeface="Hiragino Sans"/>
              </a:defRPr>
            </a:pPr>
            <a:r>
              <a:t>モデル学習への利用禁止</a:t>
            </a:r>
          </a:p>
        </p:txBody>
      </p:sp>
      <p:sp>
        <p:nvSpPr>
          <p:cNvPr id="15" name="Rounded Rectangle 14"/>
          <p:cNvSpPr/>
          <p:nvPr/>
        </p:nvSpPr>
        <p:spPr>
          <a:xfrm>
            <a:off x="8092440" y="1143000"/>
            <a:ext cx="3474720" cy="4251960"/>
          </a:xfrm>
          <a:prstGeom prst="roundRect">
            <a:avLst>
              <a:gd name="adj" fmla="val 5000"/>
            </a:avLst>
          </a:prstGeom>
          <a:solidFill>
            <a:srgbClr val="FFFFFF"/>
          </a:solidFill>
          <a:ln>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92440" y="1143000"/>
            <a:ext cx="73152" cy="4251960"/>
          </a:xfrm>
          <a:prstGeom prst="rect">
            <a:avLst/>
          </a:prstGeom>
          <a:solidFill>
            <a:srgbClr val="1484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1298448"/>
            <a:ext cx="3127248" cy="320040"/>
          </a:xfrm>
          <a:prstGeom prst="rect">
            <a:avLst/>
          </a:prstGeom>
          <a:noFill/>
        </p:spPr>
        <p:txBody>
          <a:bodyPr wrap="none" lIns="27432" rIns="27432" tIns="18288" bIns="18288">
            <a:spAutoFit/>
          </a:bodyPr>
          <a:lstStyle/>
          <a:p>
            <a:r>
              <a:rPr sz="1700" b="1">
                <a:solidFill>
                  <a:srgbClr val="282D34"/>
                </a:solidFill>
                <a:latin typeface="Hiragino Sans"/>
              </a:rPr>
              <a:t>3. 運用統制</a:t>
            </a:r>
          </a:p>
        </p:txBody>
      </p:sp>
      <p:sp>
        <p:nvSpPr>
          <p:cNvPr id="18" name="TextBox 17"/>
          <p:cNvSpPr txBox="1"/>
          <p:nvPr/>
        </p:nvSpPr>
        <p:spPr>
          <a:xfrm>
            <a:off x="8293608" y="1764792"/>
            <a:ext cx="3127248" cy="3502152"/>
          </a:xfrm>
          <a:prstGeom prst="rect">
            <a:avLst/>
          </a:prstGeom>
          <a:noFill/>
        </p:spPr>
        <p:txBody>
          <a:bodyPr wrap="square" lIns="45720" rIns="45720" tIns="18288" bIns="18288">
            <a:spAutoFit/>
          </a:bodyPr>
          <a:lstStyle/>
          <a:p>
            <a:pPr>
              <a:spcAft>
                <a:spcPts val="700"/>
              </a:spcAft>
              <a:defRPr sz="1500">
                <a:solidFill>
                  <a:srgbClr val="5B636E"/>
                </a:solidFill>
                <a:latin typeface="Hiragino Sans"/>
              </a:defRPr>
            </a:pPr>
            <a:r>
              <a:t>保存場所・保存期間</a:t>
            </a:r>
          </a:p>
          <a:p>
            <a:pPr>
              <a:spcAft>
                <a:spcPts val="700"/>
              </a:spcAft>
              <a:defRPr sz="1500">
                <a:solidFill>
                  <a:srgbClr val="5B636E"/>
                </a:solidFill>
                <a:latin typeface="Hiragino Sans"/>
              </a:defRPr>
            </a:pPr>
            <a:r>
              <a:t>アクセス権限・監査ログ</a:t>
            </a:r>
          </a:p>
          <a:p>
            <a:pPr>
              <a:spcAft>
                <a:spcPts val="700"/>
              </a:spcAft>
              <a:defRPr sz="1500">
                <a:solidFill>
                  <a:srgbClr val="5B636E"/>
                </a:solidFill>
                <a:latin typeface="Hiragino Sans"/>
              </a:defRPr>
            </a:pPr>
            <a:r>
              <a:t>外部パートナーの閲覧範囲</a:t>
            </a:r>
          </a:p>
          <a:p>
            <a:pPr>
              <a:spcAft>
                <a:spcPts val="700"/>
              </a:spcAft>
              <a:defRPr sz="1500">
                <a:solidFill>
                  <a:srgbClr val="5B636E"/>
                </a:solidFill>
                <a:latin typeface="Hiragino Sans"/>
              </a:defRPr>
            </a:pPr>
            <a:r>
              <a:t>NDA/契約/レビュー要否</a:t>
            </a:r>
          </a:p>
          <a:p>
            <a:pPr>
              <a:spcAft>
                <a:spcPts val="700"/>
              </a:spcAft>
              <a:defRPr sz="1500">
                <a:solidFill>
                  <a:srgbClr val="5B636E"/>
                </a:solidFill>
                <a:latin typeface="Hiragino Sans"/>
              </a:defRPr>
            </a:pPr>
            <a:r>
              <a:t>顧客提出前の人間確認</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9875520" cy="411480"/>
          </a:xfrm>
          <a:prstGeom prst="rect">
            <a:avLst/>
          </a:prstGeom>
          <a:noFill/>
        </p:spPr>
        <p:txBody>
          <a:bodyPr wrap="none" lIns="27432" rIns="27432" tIns="18288" bIns="18288">
            <a:spAutoFit/>
          </a:bodyPr>
          <a:lstStyle/>
          <a:p>
            <a:r>
              <a:rPr sz="2400" b="1">
                <a:solidFill>
                  <a:srgbClr val="282D34"/>
                </a:solidFill>
                <a:latin typeface="Hiragino Sans"/>
              </a:rPr>
              <a:t>想定アーキテクチャ: 許容されるAI基盤に合わせて選択</a:t>
            </a:r>
          </a:p>
        </p:txBody>
      </p:sp>
      <p:sp>
        <p:nvSpPr>
          <p:cNvPr id="3" name="TextBox 2"/>
          <p:cNvSpPr txBox="1"/>
          <p:nvPr/>
        </p:nvSpPr>
        <p:spPr>
          <a:xfrm>
            <a:off x="10058400" y="283464"/>
            <a:ext cx="1554480" cy="320040"/>
          </a:xfrm>
          <a:prstGeom prst="rect">
            <a:avLst/>
          </a:prstGeom>
          <a:noFill/>
        </p:spPr>
        <p:txBody>
          <a:bodyPr wrap="none" lIns="27432" rIns="27432" tIns="18288" bIns="18288">
            <a:spAutoFit/>
          </a:bodyPr>
          <a:lstStyle/>
          <a:p>
            <a:pPr algn="r"/>
            <a:r>
              <a:rPr sz="1000" b="1">
                <a:solidFill>
                  <a:srgbClr val="5B636E"/>
                </a:solidFill>
                <a:latin typeface="Hiragino Sans"/>
              </a:rPr>
              <a:t>Architecture</a:t>
            </a:r>
          </a:p>
        </p:txBody>
      </p:sp>
      <p:sp>
        <p:nvSpPr>
          <p:cNvPr id="4" name="Rectangle 3"/>
          <p:cNvSpPr/>
          <p:nvPr/>
        </p:nvSpPr>
        <p:spPr>
          <a:xfrm>
            <a:off x="502920" y="758952"/>
            <a:ext cx="11155680" cy="18288"/>
          </a:xfrm>
          <a:prstGeom prst="rect">
            <a:avLst/>
          </a:prstGeom>
          <a:solidFill>
            <a:srgbClr val="DA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4572000" cy="201168"/>
          </a:xfrm>
          <a:prstGeom prst="rect">
            <a:avLst/>
          </a:prstGeom>
          <a:noFill/>
        </p:spPr>
        <p:txBody>
          <a:bodyPr wrap="none" lIns="27432" rIns="27432" tIns="18288" bIns="18288">
            <a:spAutoFit/>
          </a:bodyPr>
          <a:lstStyle/>
          <a:p>
            <a:r>
              <a:rPr sz="800" b="0">
                <a:solidFill>
                  <a:srgbClr val="5B636E"/>
                </a:solidFill>
                <a:latin typeface="Hiragino Sans"/>
              </a:rPr>
              <a:t>SMC様向け ワーク実証記録AI化 初期提案</a:t>
            </a:r>
          </a:p>
        </p:txBody>
      </p:sp>
      <p:sp>
        <p:nvSpPr>
          <p:cNvPr id="6" name="TextBox 5"/>
          <p:cNvSpPr txBox="1"/>
          <p:nvPr/>
        </p:nvSpPr>
        <p:spPr>
          <a:xfrm>
            <a:off x="10789920" y="6446520"/>
            <a:ext cx="822960" cy="201168"/>
          </a:xfrm>
          <a:prstGeom prst="rect">
            <a:avLst/>
          </a:prstGeom>
          <a:noFill/>
        </p:spPr>
        <p:txBody>
          <a:bodyPr wrap="none" lIns="27432" rIns="27432" tIns="18288" bIns="18288">
            <a:spAutoFit/>
          </a:bodyPr>
          <a:lstStyle/>
          <a:p>
            <a:pPr algn="r"/>
            <a:r>
              <a:rPr sz="800" b="0">
                <a:solidFill>
                  <a:srgbClr val="5B636E"/>
                </a:solidFill>
                <a:latin typeface="Hiragino Sans"/>
              </a:rPr>
              <a:t>10</a:t>
            </a:r>
          </a:p>
        </p:txBody>
      </p:sp>
      <p:sp>
        <p:nvSpPr>
          <p:cNvPr id="7" name="Rounded Rectangle 6"/>
          <p:cNvSpPr/>
          <p:nvPr/>
        </p:nvSpPr>
        <p:spPr>
          <a:xfrm>
            <a:off x="731520" y="1280160"/>
            <a:ext cx="2148840" cy="1417320"/>
          </a:xfrm>
          <a:prstGeom prst="roundRect">
            <a:avLst>
              <a:gd name="adj" fmla="val 6000"/>
            </a:avLst>
          </a:prstGeom>
          <a:solidFill>
            <a:srgbClr val="FFFFFF"/>
          </a:solidFill>
          <a:ln>
            <a:solidFill>
              <a:srgbClr val="1C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36192"/>
            <a:ext cx="1874519" cy="256032"/>
          </a:xfrm>
          <a:prstGeom prst="rect">
            <a:avLst/>
          </a:prstGeom>
          <a:noFill/>
        </p:spPr>
        <p:txBody>
          <a:bodyPr wrap="none" lIns="27432" rIns="27432" tIns="18288" bIns="18288">
            <a:spAutoFit/>
          </a:bodyPr>
          <a:lstStyle/>
          <a:p>
            <a:pPr algn="ctr"/>
            <a:r>
              <a:rPr sz="1600" b="1">
                <a:solidFill>
                  <a:srgbClr val="282D34"/>
                </a:solidFill>
                <a:latin typeface="Hiragino Sans"/>
              </a:rPr>
              <a:t>入力</a:t>
            </a:r>
          </a:p>
        </p:txBody>
      </p:sp>
      <p:sp>
        <p:nvSpPr>
          <p:cNvPr id="9" name="TextBox 8"/>
          <p:cNvSpPr txBox="1"/>
          <p:nvPr/>
        </p:nvSpPr>
        <p:spPr>
          <a:xfrm>
            <a:off x="914400" y="1920240"/>
            <a:ext cx="1783080" cy="502920"/>
          </a:xfrm>
          <a:prstGeom prst="rect">
            <a:avLst/>
          </a:prstGeom>
          <a:noFill/>
        </p:spPr>
        <p:txBody>
          <a:bodyPr wrap="none" lIns="27432" rIns="27432" tIns="18288" bIns="18288">
            <a:spAutoFit/>
          </a:bodyPr>
          <a:lstStyle/>
          <a:p>
            <a:pPr algn="ctr"/>
            <a:r>
              <a:rPr sz="1200" b="0">
                <a:solidFill>
                  <a:srgbClr val="5B636E"/>
                </a:solidFill>
                <a:latin typeface="Hiragino Sans"/>
              </a:rPr>
              <a:t>写真/動画
音声メモ
ワーク基本情報</a:t>
            </a:r>
          </a:p>
        </p:txBody>
      </p:sp>
      <p:sp>
        <p:nvSpPr>
          <p:cNvPr id="10" name="TextBox 9"/>
          <p:cNvSpPr txBox="1"/>
          <p:nvPr/>
        </p:nvSpPr>
        <p:spPr>
          <a:xfrm>
            <a:off x="2880360" y="1874519"/>
            <a:ext cx="320040" cy="274320"/>
          </a:xfrm>
          <a:prstGeom prst="rect">
            <a:avLst/>
          </a:prstGeom>
          <a:noFill/>
        </p:spPr>
        <p:txBody>
          <a:bodyPr wrap="none" lIns="27432" rIns="27432" tIns="18288" bIns="18288">
            <a:spAutoFit/>
          </a:bodyPr>
          <a:lstStyle/>
          <a:p>
            <a:pPr algn="ctr"/>
            <a:r>
              <a:rPr sz="1800" b="1">
                <a:solidFill>
                  <a:srgbClr val="5B636E"/>
                </a:solidFill>
                <a:latin typeface="Hiragino Sans"/>
              </a:rPr>
              <a:t>→</a:t>
            </a:r>
          </a:p>
        </p:txBody>
      </p:sp>
      <p:sp>
        <p:nvSpPr>
          <p:cNvPr id="11" name="Rounded Rectangle 10"/>
          <p:cNvSpPr/>
          <p:nvPr/>
        </p:nvSpPr>
        <p:spPr>
          <a:xfrm>
            <a:off x="3474720" y="1280160"/>
            <a:ext cx="2148840" cy="1417320"/>
          </a:xfrm>
          <a:prstGeom prst="roundRect">
            <a:avLst>
              <a:gd name="adj" fmla="val 6000"/>
            </a:avLst>
          </a:prstGeom>
          <a:solidFill>
            <a:srgbClr val="FFFFFF"/>
          </a:solidFill>
          <a:ln>
            <a:solidFill>
              <a:srgbClr val="1C5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79" y="1536192"/>
            <a:ext cx="1874519" cy="256032"/>
          </a:xfrm>
          <a:prstGeom prst="rect">
            <a:avLst/>
          </a:prstGeom>
          <a:noFill/>
        </p:spPr>
        <p:txBody>
          <a:bodyPr wrap="none" lIns="27432" rIns="27432" tIns="18288" bIns="18288">
            <a:spAutoFit/>
          </a:bodyPr>
          <a:lstStyle/>
          <a:p>
            <a:pPr algn="ctr"/>
            <a:r>
              <a:rPr sz="1600" b="1">
                <a:solidFill>
                  <a:srgbClr val="282D34"/>
                </a:solidFill>
                <a:latin typeface="Hiragino Sans"/>
              </a:rPr>
              <a:t>AI処理</a:t>
            </a:r>
          </a:p>
        </p:txBody>
      </p:sp>
      <p:sp>
        <p:nvSpPr>
          <p:cNvPr id="13" name="TextBox 12"/>
          <p:cNvSpPr txBox="1"/>
          <p:nvPr/>
        </p:nvSpPr>
        <p:spPr>
          <a:xfrm>
            <a:off x="3657600" y="1920240"/>
            <a:ext cx="1783080" cy="502920"/>
          </a:xfrm>
          <a:prstGeom prst="rect">
            <a:avLst/>
          </a:prstGeom>
          <a:noFill/>
        </p:spPr>
        <p:txBody>
          <a:bodyPr wrap="none" lIns="27432" rIns="27432" tIns="18288" bIns="18288">
            <a:spAutoFit/>
          </a:bodyPr>
          <a:lstStyle/>
          <a:p>
            <a:pPr algn="ctr"/>
            <a:r>
              <a:rPr sz="1200" b="0">
                <a:solidFill>
                  <a:srgbClr val="5B636E"/>
                </a:solidFill>
                <a:latin typeface="Hiragino Sans"/>
              </a:rPr>
              <a:t>文字起こし
画像/動画整理
条件・結果抽出</a:t>
            </a:r>
          </a:p>
        </p:txBody>
      </p:sp>
      <p:sp>
        <p:nvSpPr>
          <p:cNvPr id="14" name="TextBox 13"/>
          <p:cNvSpPr txBox="1"/>
          <p:nvPr/>
        </p:nvSpPr>
        <p:spPr>
          <a:xfrm>
            <a:off x="5623560" y="1874519"/>
            <a:ext cx="320040" cy="274320"/>
          </a:xfrm>
          <a:prstGeom prst="rect">
            <a:avLst/>
          </a:prstGeom>
          <a:noFill/>
        </p:spPr>
        <p:txBody>
          <a:bodyPr wrap="none" lIns="27432" rIns="27432" tIns="18288" bIns="18288">
            <a:spAutoFit/>
          </a:bodyPr>
          <a:lstStyle/>
          <a:p>
            <a:pPr algn="ctr"/>
            <a:r>
              <a:rPr sz="1800" b="1">
                <a:solidFill>
                  <a:srgbClr val="5B636E"/>
                </a:solidFill>
                <a:latin typeface="Hiragino Sans"/>
              </a:rPr>
              <a:t>→</a:t>
            </a:r>
          </a:p>
        </p:txBody>
      </p:sp>
      <p:sp>
        <p:nvSpPr>
          <p:cNvPr id="15" name="Rounded Rectangle 14"/>
          <p:cNvSpPr/>
          <p:nvPr/>
        </p:nvSpPr>
        <p:spPr>
          <a:xfrm>
            <a:off x="6217920" y="1280160"/>
            <a:ext cx="2148840" cy="1417320"/>
          </a:xfrm>
          <a:prstGeom prst="roundRect">
            <a:avLst>
              <a:gd name="adj" fmla="val 6000"/>
            </a:avLst>
          </a:prstGeom>
          <a:solidFill>
            <a:srgbClr val="FFFFFF"/>
          </a:solidFill>
          <a:ln>
            <a:solidFill>
              <a:srgbClr val="1484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536192"/>
            <a:ext cx="1874519" cy="256032"/>
          </a:xfrm>
          <a:prstGeom prst="rect">
            <a:avLst/>
          </a:prstGeom>
          <a:noFill/>
        </p:spPr>
        <p:txBody>
          <a:bodyPr wrap="none" lIns="27432" rIns="27432" tIns="18288" bIns="18288">
            <a:spAutoFit/>
          </a:bodyPr>
          <a:lstStyle/>
          <a:p>
            <a:pPr algn="ctr"/>
            <a:r>
              <a:rPr sz="1600" b="1">
                <a:solidFill>
                  <a:srgbClr val="282D34"/>
                </a:solidFill>
                <a:latin typeface="Hiragino Sans"/>
              </a:rPr>
              <a:t>蓄積</a:t>
            </a:r>
          </a:p>
        </p:txBody>
      </p:sp>
      <p:sp>
        <p:nvSpPr>
          <p:cNvPr id="17" name="TextBox 16"/>
          <p:cNvSpPr txBox="1"/>
          <p:nvPr/>
        </p:nvSpPr>
        <p:spPr>
          <a:xfrm>
            <a:off x="6400800" y="1920240"/>
            <a:ext cx="1783080" cy="502920"/>
          </a:xfrm>
          <a:prstGeom prst="rect">
            <a:avLst/>
          </a:prstGeom>
          <a:noFill/>
        </p:spPr>
        <p:txBody>
          <a:bodyPr wrap="none" lIns="27432" rIns="27432" tIns="18288" bIns="18288">
            <a:spAutoFit/>
          </a:bodyPr>
          <a:lstStyle/>
          <a:p>
            <a:pPr algn="ctr"/>
            <a:r>
              <a:rPr sz="1200" b="0">
                <a:solidFill>
                  <a:srgbClr val="5B636E"/>
                </a:solidFill>
                <a:latin typeface="Hiragino Sans"/>
              </a:rPr>
              <a:t>実証DB
証跡リンク
検索用メタデータ</a:t>
            </a:r>
          </a:p>
        </p:txBody>
      </p:sp>
      <p:sp>
        <p:nvSpPr>
          <p:cNvPr id="18" name="TextBox 17"/>
          <p:cNvSpPr txBox="1"/>
          <p:nvPr/>
        </p:nvSpPr>
        <p:spPr>
          <a:xfrm>
            <a:off x="8366760" y="1874519"/>
            <a:ext cx="320040" cy="274320"/>
          </a:xfrm>
          <a:prstGeom prst="rect">
            <a:avLst/>
          </a:prstGeom>
          <a:noFill/>
        </p:spPr>
        <p:txBody>
          <a:bodyPr wrap="none" lIns="27432" rIns="27432" tIns="18288" bIns="18288">
            <a:spAutoFit/>
          </a:bodyPr>
          <a:lstStyle/>
          <a:p>
            <a:pPr algn="ctr"/>
            <a:r>
              <a:rPr sz="1800" b="1">
                <a:solidFill>
                  <a:srgbClr val="5B636E"/>
                </a:solidFill>
                <a:latin typeface="Hiragino Sans"/>
              </a:rPr>
              <a:t>→</a:t>
            </a:r>
          </a:p>
        </p:txBody>
      </p:sp>
      <p:sp>
        <p:nvSpPr>
          <p:cNvPr id="19" name="Rounded Rectangle 18"/>
          <p:cNvSpPr/>
          <p:nvPr/>
        </p:nvSpPr>
        <p:spPr>
          <a:xfrm>
            <a:off x="8961120" y="1280160"/>
            <a:ext cx="2148840" cy="1417320"/>
          </a:xfrm>
          <a:prstGeom prst="roundRect">
            <a:avLst>
              <a:gd name="adj" fmla="val 6000"/>
            </a:avLst>
          </a:prstGeom>
          <a:solidFill>
            <a:srgbClr val="FFFFFF"/>
          </a:solidFill>
          <a:ln>
            <a:solidFill>
              <a:srgbClr val="1484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80" y="1536192"/>
            <a:ext cx="1874519" cy="256032"/>
          </a:xfrm>
          <a:prstGeom prst="rect">
            <a:avLst/>
          </a:prstGeom>
          <a:noFill/>
        </p:spPr>
        <p:txBody>
          <a:bodyPr wrap="none" lIns="27432" rIns="27432" tIns="18288" bIns="18288">
            <a:spAutoFit/>
          </a:bodyPr>
          <a:lstStyle/>
          <a:p>
            <a:pPr algn="ctr"/>
            <a:r>
              <a:rPr sz="1600" b="1">
                <a:solidFill>
                  <a:srgbClr val="282D34"/>
                </a:solidFill>
                <a:latin typeface="Hiragino Sans"/>
              </a:rPr>
              <a:t>出力</a:t>
            </a:r>
          </a:p>
        </p:txBody>
      </p:sp>
      <p:sp>
        <p:nvSpPr>
          <p:cNvPr id="21" name="TextBox 20"/>
          <p:cNvSpPr txBox="1"/>
          <p:nvPr/>
        </p:nvSpPr>
        <p:spPr>
          <a:xfrm>
            <a:off x="9144000" y="1920240"/>
            <a:ext cx="1783080" cy="502920"/>
          </a:xfrm>
          <a:prstGeom prst="rect">
            <a:avLst/>
          </a:prstGeom>
          <a:noFill/>
        </p:spPr>
        <p:txBody>
          <a:bodyPr wrap="none" lIns="27432" rIns="27432" tIns="18288" bIns="18288">
            <a:spAutoFit/>
          </a:bodyPr>
          <a:lstStyle/>
          <a:p>
            <a:pPr algn="ctr"/>
            <a:r>
              <a:rPr sz="1200" b="0">
                <a:solidFill>
                  <a:srgbClr val="5B636E"/>
                </a:solidFill>
                <a:latin typeface="Hiragino Sans"/>
              </a:rPr>
              <a:t>Excel下書き
顧客向け報告
社内ナレッジ</a:t>
            </a:r>
          </a:p>
        </p:txBody>
      </p:sp>
      <p:sp>
        <p:nvSpPr>
          <p:cNvPr id="22" name="TextBox 21"/>
          <p:cNvSpPr txBox="1"/>
          <p:nvPr/>
        </p:nvSpPr>
        <p:spPr>
          <a:xfrm>
            <a:off x="822960" y="3337560"/>
            <a:ext cx="10607040" cy="320040"/>
          </a:xfrm>
          <a:prstGeom prst="rect">
            <a:avLst/>
          </a:prstGeom>
          <a:noFill/>
        </p:spPr>
        <p:txBody>
          <a:bodyPr wrap="none" lIns="27432" rIns="27432" tIns="18288" bIns="18288">
            <a:spAutoFit/>
          </a:bodyPr>
          <a:lstStyle/>
          <a:p>
            <a:r>
              <a:rPr sz="1800" b="1">
                <a:solidFill>
                  <a:srgbClr val="282D34"/>
                </a:solidFill>
                <a:latin typeface="Hiragino Sans"/>
              </a:rPr>
              <a:t>AI基盤の選択肢</a:t>
            </a:r>
          </a:p>
        </p:txBody>
      </p:sp>
      <p:sp>
        <p:nvSpPr>
          <p:cNvPr id="23" name="TextBox 22"/>
          <p:cNvSpPr txBox="1"/>
          <p:nvPr/>
        </p:nvSpPr>
        <p:spPr>
          <a:xfrm>
            <a:off x="960120" y="3794760"/>
            <a:ext cx="1920240" cy="228600"/>
          </a:xfrm>
          <a:prstGeom prst="rect">
            <a:avLst/>
          </a:prstGeom>
          <a:noFill/>
        </p:spPr>
        <p:txBody>
          <a:bodyPr wrap="none" lIns="27432" rIns="27432" tIns="18288" bIns="18288">
            <a:spAutoFit/>
          </a:bodyPr>
          <a:lstStyle/>
          <a:p>
            <a:r>
              <a:rPr sz="1300" b="1">
                <a:solidFill>
                  <a:srgbClr val="C00000"/>
                </a:solidFill>
                <a:latin typeface="Hiragino Sans"/>
              </a:rPr>
              <a:t>A 外部AI API</a:t>
            </a:r>
          </a:p>
        </p:txBody>
      </p:sp>
      <p:sp>
        <p:nvSpPr>
          <p:cNvPr id="24" name="TextBox 23"/>
          <p:cNvSpPr txBox="1"/>
          <p:nvPr/>
        </p:nvSpPr>
        <p:spPr>
          <a:xfrm>
            <a:off x="3063240" y="3794760"/>
            <a:ext cx="8046720" cy="228600"/>
          </a:xfrm>
          <a:prstGeom prst="rect">
            <a:avLst/>
          </a:prstGeom>
          <a:noFill/>
        </p:spPr>
        <p:txBody>
          <a:bodyPr wrap="none" lIns="27432" rIns="27432" tIns="18288" bIns="18288">
            <a:spAutoFit/>
          </a:bodyPr>
          <a:lstStyle/>
          <a:p>
            <a:r>
              <a:rPr sz="1300" b="0">
                <a:solidFill>
                  <a:srgbClr val="5B636E"/>
                </a:solidFill>
                <a:latin typeface="Hiragino Sans"/>
              </a:rPr>
              <a:t>最短でPoCしやすい / データ送信可否の確認が必要</a:t>
            </a:r>
          </a:p>
        </p:txBody>
      </p:sp>
      <p:sp>
        <p:nvSpPr>
          <p:cNvPr id="25" name="TextBox 24"/>
          <p:cNvSpPr txBox="1"/>
          <p:nvPr/>
        </p:nvSpPr>
        <p:spPr>
          <a:xfrm>
            <a:off x="960120" y="4297680"/>
            <a:ext cx="1920240" cy="228600"/>
          </a:xfrm>
          <a:prstGeom prst="rect">
            <a:avLst/>
          </a:prstGeom>
          <a:noFill/>
        </p:spPr>
        <p:txBody>
          <a:bodyPr wrap="none" lIns="27432" rIns="27432" tIns="18288" bIns="18288">
            <a:spAutoFit/>
          </a:bodyPr>
          <a:lstStyle/>
          <a:p>
            <a:r>
              <a:rPr sz="1300" b="1">
                <a:solidFill>
                  <a:srgbClr val="282D34"/>
                </a:solidFill>
                <a:latin typeface="Hiragino Sans"/>
              </a:rPr>
              <a:t>B Azure OpenAI</a:t>
            </a:r>
          </a:p>
        </p:txBody>
      </p:sp>
      <p:sp>
        <p:nvSpPr>
          <p:cNvPr id="26" name="TextBox 25"/>
          <p:cNvSpPr txBox="1"/>
          <p:nvPr/>
        </p:nvSpPr>
        <p:spPr>
          <a:xfrm>
            <a:off x="3063240" y="4297680"/>
            <a:ext cx="8046720" cy="228600"/>
          </a:xfrm>
          <a:prstGeom prst="rect">
            <a:avLst/>
          </a:prstGeom>
          <a:noFill/>
        </p:spPr>
        <p:txBody>
          <a:bodyPr wrap="none" lIns="27432" rIns="27432" tIns="18288" bIns="18288">
            <a:spAutoFit/>
          </a:bodyPr>
          <a:lstStyle/>
          <a:p>
            <a:r>
              <a:rPr sz="1300" b="0">
                <a:solidFill>
                  <a:srgbClr val="5B636E"/>
                </a:solidFill>
                <a:latin typeface="Hiragino Sans"/>
              </a:rPr>
              <a:t>Microsoft環境との親和性 / SMC様側の環境・権限確認が必要</a:t>
            </a:r>
          </a:p>
        </p:txBody>
      </p:sp>
      <p:sp>
        <p:nvSpPr>
          <p:cNvPr id="27" name="TextBox 26"/>
          <p:cNvSpPr txBox="1"/>
          <p:nvPr/>
        </p:nvSpPr>
        <p:spPr>
          <a:xfrm>
            <a:off x="960120" y="4800600"/>
            <a:ext cx="1920240" cy="228600"/>
          </a:xfrm>
          <a:prstGeom prst="rect">
            <a:avLst/>
          </a:prstGeom>
          <a:noFill/>
        </p:spPr>
        <p:txBody>
          <a:bodyPr wrap="none" lIns="27432" rIns="27432" tIns="18288" bIns="18288">
            <a:spAutoFit/>
          </a:bodyPr>
          <a:lstStyle/>
          <a:p>
            <a:r>
              <a:rPr sz="1300" b="1">
                <a:solidFill>
                  <a:srgbClr val="282D34"/>
                </a:solidFill>
                <a:latin typeface="Hiragino Sans"/>
              </a:rPr>
              <a:t>C SMC環境内AI</a:t>
            </a:r>
          </a:p>
        </p:txBody>
      </p:sp>
      <p:sp>
        <p:nvSpPr>
          <p:cNvPr id="28" name="TextBox 27"/>
          <p:cNvSpPr txBox="1"/>
          <p:nvPr/>
        </p:nvSpPr>
        <p:spPr>
          <a:xfrm>
            <a:off x="3063240" y="4800600"/>
            <a:ext cx="8046720" cy="228600"/>
          </a:xfrm>
          <a:prstGeom prst="rect">
            <a:avLst/>
          </a:prstGeom>
          <a:noFill/>
        </p:spPr>
        <p:txBody>
          <a:bodyPr wrap="none" lIns="27432" rIns="27432" tIns="18288" bIns="18288">
            <a:spAutoFit/>
          </a:bodyPr>
          <a:lstStyle/>
          <a:p>
            <a:r>
              <a:rPr sz="1300" b="0">
                <a:solidFill>
                  <a:srgbClr val="5B636E"/>
                </a:solidFill>
                <a:latin typeface="Hiragino Sans"/>
              </a:rPr>
              <a:t>社内ポリシーに合わせやすい / 既存基盤の機能に依存</a:t>
            </a:r>
          </a:p>
        </p:txBody>
      </p:sp>
      <p:sp>
        <p:nvSpPr>
          <p:cNvPr id="29" name="TextBox 28"/>
          <p:cNvSpPr txBox="1"/>
          <p:nvPr/>
        </p:nvSpPr>
        <p:spPr>
          <a:xfrm>
            <a:off x="960120" y="5303520"/>
            <a:ext cx="1920240" cy="228600"/>
          </a:xfrm>
          <a:prstGeom prst="rect">
            <a:avLst/>
          </a:prstGeom>
          <a:noFill/>
        </p:spPr>
        <p:txBody>
          <a:bodyPr wrap="none" lIns="27432" rIns="27432" tIns="18288" bIns="18288">
            <a:spAutoFit/>
          </a:bodyPr>
          <a:lstStyle/>
          <a:p>
            <a:r>
              <a:rPr sz="1300" b="1">
                <a:solidFill>
                  <a:srgbClr val="282D34"/>
                </a:solidFill>
                <a:latin typeface="Hiragino Sans"/>
              </a:rPr>
              <a:t>D 閉域/ローカルLLM</a:t>
            </a:r>
          </a:p>
        </p:txBody>
      </p:sp>
      <p:sp>
        <p:nvSpPr>
          <p:cNvPr id="30" name="TextBox 29"/>
          <p:cNvSpPr txBox="1"/>
          <p:nvPr/>
        </p:nvSpPr>
        <p:spPr>
          <a:xfrm>
            <a:off x="3063240" y="5303520"/>
            <a:ext cx="8046720" cy="228600"/>
          </a:xfrm>
          <a:prstGeom prst="rect">
            <a:avLst/>
          </a:prstGeom>
          <a:noFill/>
        </p:spPr>
        <p:txBody>
          <a:bodyPr wrap="none" lIns="27432" rIns="27432" tIns="18288" bIns="18288">
            <a:spAutoFit/>
          </a:bodyPr>
          <a:lstStyle/>
          <a:p>
            <a:r>
              <a:rPr sz="1300" b="0">
                <a:solidFill>
                  <a:srgbClr val="5B636E"/>
                </a:solidFill>
                <a:latin typeface="Hiragino Sans"/>
              </a:rPr>
              <a:t>外部送信を避けられる / 費用・保守負荷が上がる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9875520" cy="411480"/>
          </a:xfrm>
          <a:prstGeom prst="rect">
            <a:avLst/>
          </a:prstGeom>
          <a:noFill/>
        </p:spPr>
        <p:txBody>
          <a:bodyPr wrap="none" lIns="27432" rIns="27432" tIns="18288" bIns="18288">
            <a:spAutoFit/>
          </a:bodyPr>
          <a:lstStyle/>
          <a:p>
            <a:r>
              <a:rPr sz="2400" b="1">
                <a:solidFill>
                  <a:srgbClr val="282D34"/>
                </a:solidFill>
                <a:latin typeface="Hiragino Sans"/>
              </a:rPr>
              <a:t>ポリシー所管部門への相談文案</a:t>
            </a:r>
          </a:p>
        </p:txBody>
      </p:sp>
      <p:sp>
        <p:nvSpPr>
          <p:cNvPr id="3" name="TextBox 2"/>
          <p:cNvSpPr txBox="1"/>
          <p:nvPr/>
        </p:nvSpPr>
        <p:spPr>
          <a:xfrm>
            <a:off x="10058400" y="283464"/>
            <a:ext cx="1554480" cy="320040"/>
          </a:xfrm>
          <a:prstGeom prst="rect">
            <a:avLst/>
          </a:prstGeom>
          <a:noFill/>
        </p:spPr>
        <p:txBody>
          <a:bodyPr wrap="none" lIns="27432" rIns="27432" tIns="18288" bIns="18288">
            <a:spAutoFit/>
          </a:bodyPr>
          <a:lstStyle/>
          <a:p>
            <a:pPr algn="r"/>
            <a:r>
              <a:rPr sz="1000" b="1">
                <a:solidFill>
                  <a:srgbClr val="5B636E"/>
                </a:solidFill>
                <a:latin typeface="Hiragino Sans"/>
              </a:rPr>
              <a:t>Message Draft</a:t>
            </a:r>
          </a:p>
        </p:txBody>
      </p:sp>
      <p:sp>
        <p:nvSpPr>
          <p:cNvPr id="4" name="Rectangle 3"/>
          <p:cNvSpPr/>
          <p:nvPr/>
        </p:nvSpPr>
        <p:spPr>
          <a:xfrm>
            <a:off x="502920" y="758952"/>
            <a:ext cx="11155680" cy="18288"/>
          </a:xfrm>
          <a:prstGeom prst="rect">
            <a:avLst/>
          </a:prstGeom>
          <a:solidFill>
            <a:srgbClr val="DA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4572000" cy="201168"/>
          </a:xfrm>
          <a:prstGeom prst="rect">
            <a:avLst/>
          </a:prstGeom>
          <a:noFill/>
        </p:spPr>
        <p:txBody>
          <a:bodyPr wrap="none" lIns="27432" rIns="27432" tIns="18288" bIns="18288">
            <a:spAutoFit/>
          </a:bodyPr>
          <a:lstStyle/>
          <a:p>
            <a:r>
              <a:rPr sz="800" b="0">
                <a:solidFill>
                  <a:srgbClr val="5B636E"/>
                </a:solidFill>
                <a:latin typeface="Hiragino Sans"/>
              </a:rPr>
              <a:t>SMC様向け ワーク実証記録AI化 初期提案</a:t>
            </a:r>
          </a:p>
        </p:txBody>
      </p:sp>
      <p:sp>
        <p:nvSpPr>
          <p:cNvPr id="6" name="TextBox 5"/>
          <p:cNvSpPr txBox="1"/>
          <p:nvPr/>
        </p:nvSpPr>
        <p:spPr>
          <a:xfrm>
            <a:off x="10789920" y="6446520"/>
            <a:ext cx="822960" cy="201168"/>
          </a:xfrm>
          <a:prstGeom prst="rect">
            <a:avLst/>
          </a:prstGeom>
          <a:noFill/>
        </p:spPr>
        <p:txBody>
          <a:bodyPr wrap="none" lIns="27432" rIns="27432" tIns="18288" bIns="18288">
            <a:spAutoFit/>
          </a:bodyPr>
          <a:lstStyle/>
          <a:p>
            <a:pPr algn="r"/>
            <a:r>
              <a:rPr sz="800" b="0">
                <a:solidFill>
                  <a:srgbClr val="5B636E"/>
                </a:solidFill>
                <a:latin typeface="Hiragino Sans"/>
              </a:rPr>
              <a:t>11</a:t>
            </a:r>
          </a:p>
        </p:txBody>
      </p:sp>
      <p:sp>
        <p:nvSpPr>
          <p:cNvPr id="7" name="Rounded Rectangle 6"/>
          <p:cNvSpPr/>
          <p:nvPr/>
        </p:nvSpPr>
        <p:spPr>
          <a:xfrm>
            <a:off x="914400" y="1234440"/>
            <a:ext cx="10332720" cy="4389120"/>
          </a:xfrm>
          <a:prstGeom prst="roundRect">
            <a:avLst>
              <a:gd name="adj" fmla="val 3000"/>
            </a:avLst>
          </a:prstGeom>
          <a:solidFill>
            <a:srgbClr val="F5F7FA"/>
          </a:solidFill>
          <a:ln>
            <a:solidFill>
              <a:srgbClr val="DA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1600200"/>
            <a:ext cx="9692640" cy="3520440"/>
          </a:xfrm>
          <a:prstGeom prst="rect">
            <a:avLst/>
          </a:prstGeom>
          <a:noFill/>
        </p:spPr>
        <p:txBody>
          <a:bodyPr wrap="none" lIns="27432" rIns="27432" tIns="18288" bIns="18288">
            <a:spAutoFit/>
          </a:bodyPr>
          <a:lstStyle/>
          <a:p>
            <a:r>
              <a:rPr sz="1800" b="0">
                <a:solidFill>
                  <a:srgbClr val="282D34"/>
                </a:solidFill>
                <a:latin typeface="Hiragino Sans"/>
              </a:rPr>
              <a:t>ハンドリングラボで実施している顧客ワークの吸着・把持実証について、画像/動画/音声メモを用いて実証結果レポートをAIで下書きし、実証データを構造化して蓄積するPoCを検討しています。
目的は、顧客向け報告作成の効率化と、過去実証ノウハウのデータ化です。将来的には、蓄積データをもとに製品選定支援や一次見積もりに発展させる可能性がありますが、初期PoCでは社内利用に限定し、顧客提出物は担当者が確認したもののみとします。
このPoCを進めるにあたり、外部AI APIの利用可否、SMC社内環境でのAI利用要件、外部パートナーのデータアクセス範囲、保存場所・保存期間・監査ログ等の要件について確認させてください。</a:t>
            </a:r>
          </a:p>
        </p:txBody>
      </p:sp>
      <p:sp>
        <p:nvSpPr>
          <p:cNvPr id="9" name="TextBox 8"/>
          <p:cNvSpPr txBox="1"/>
          <p:nvPr/>
        </p:nvSpPr>
        <p:spPr>
          <a:xfrm>
            <a:off x="960120" y="5806440"/>
            <a:ext cx="10241280" cy="320040"/>
          </a:xfrm>
          <a:prstGeom prst="rect">
            <a:avLst/>
          </a:prstGeom>
          <a:noFill/>
        </p:spPr>
        <p:txBody>
          <a:bodyPr wrap="none" lIns="27432" rIns="27432" tIns="18288" bIns="18288">
            <a:spAutoFit/>
          </a:bodyPr>
          <a:lstStyle/>
          <a:p>
            <a:pPr algn="ctr"/>
            <a:r>
              <a:rPr sz="1800" b="1">
                <a:solidFill>
                  <a:srgbClr val="C00000"/>
                </a:solidFill>
                <a:latin typeface="Hiragino Sans"/>
              </a:rPr>
              <a:t>この文面を起点に、所管部門から「許容構成」と「扱えるデータ範囲」を確認する。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9875520" cy="411480"/>
          </a:xfrm>
          <a:prstGeom prst="rect">
            <a:avLst/>
          </a:prstGeom>
          <a:noFill/>
        </p:spPr>
        <p:txBody>
          <a:bodyPr wrap="none" lIns="27432" rIns="27432" tIns="18288" bIns="18288">
            <a:spAutoFit/>
          </a:bodyPr>
          <a:lstStyle/>
          <a:p>
            <a:r>
              <a:rPr sz="2400" b="1">
                <a:solidFill>
                  <a:srgbClr val="282D34"/>
                </a:solidFill>
                <a:latin typeface="Hiragino Sans"/>
              </a:rPr>
              <a:t>次のアクション</a:t>
            </a:r>
          </a:p>
        </p:txBody>
      </p:sp>
      <p:sp>
        <p:nvSpPr>
          <p:cNvPr id="3" name="TextBox 2"/>
          <p:cNvSpPr txBox="1"/>
          <p:nvPr/>
        </p:nvSpPr>
        <p:spPr>
          <a:xfrm>
            <a:off x="10058400" y="283464"/>
            <a:ext cx="1554480" cy="320040"/>
          </a:xfrm>
          <a:prstGeom prst="rect">
            <a:avLst/>
          </a:prstGeom>
          <a:noFill/>
        </p:spPr>
        <p:txBody>
          <a:bodyPr wrap="none" lIns="27432" rIns="27432" tIns="18288" bIns="18288">
            <a:spAutoFit/>
          </a:bodyPr>
          <a:lstStyle/>
          <a:p>
            <a:pPr algn="r"/>
            <a:r>
              <a:rPr sz="1000" b="1">
                <a:solidFill>
                  <a:srgbClr val="5B636E"/>
                </a:solidFill>
                <a:latin typeface="Hiragino Sans"/>
              </a:rPr>
              <a:t>Next Steps</a:t>
            </a:r>
          </a:p>
        </p:txBody>
      </p:sp>
      <p:sp>
        <p:nvSpPr>
          <p:cNvPr id="4" name="Rectangle 3"/>
          <p:cNvSpPr/>
          <p:nvPr/>
        </p:nvSpPr>
        <p:spPr>
          <a:xfrm>
            <a:off x="502920" y="758952"/>
            <a:ext cx="11155680" cy="18288"/>
          </a:xfrm>
          <a:prstGeom prst="rect">
            <a:avLst/>
          </a:prstGeom>
          <a:solidFill>
            <a:srgbClr val="DA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46520"/>
            <a:ext cx="4572000" cy="201168"/>
          </a:xfrm>
          <a:prstGeom prst="rect">
            <a:avLst/>
          </a:prstGeom>
          <a:noFill/>
        </p:spPr>
        <p:txBody>
          <a:bodyPr wrap="none" lIns="27432" rIns="27432" tIns="18288" bIns="18288">
            <a:spAutoFit/>
          </a:bodyPr>
          <a:lstStyle/>
          <a:p>
            <a:r>
              <a:rPr sz="800" b="0">
                <a:solidFill>
                  <a:srgbClr val="5B636E"/>
                </a:solidFill>
                <a:latin typeface="Hiragino Sans"/>
              </a:rPr>
              <a:t>SMC様向け ワーク実証記録AI化 初期提案</a:t>
            </a:r>
          </a:p>
        </p:txBody>
      </p:sp>
      <p:sp>
        <p:nvSpPr>
          <p:cNvPr id="6" name="TextBox 5"/>
          <p:cNvSpPr txBox="1"/>
          <p:nvPr/>
        </p:nvSpPr>
        <p:spPr>
          <a:xfrm>
            <a:off x="10789920" y="6446520"/>
            <a:ext cx="822960" cy="201168"/>
          </a:xfrm>
          <a:prstGeom prst="rect">
            <a:avLst/>
          </a:prstGeom>
          <a:noFill/>
        </p:spPr>
        <p:txBody>
          <a:bodyPr wrap="none" lIns="27432" rIns="27432" tIns="18288" bIns="18288">
            <a:spAutoFit/>
          </a:bodyPr>
          <a:lstStyle/>
          <a:p>
            <a:pPr algn="r"/>
            <a:r>
              <a:rPr sz="800" b="0">
                <a:solidFill>
                  <a:srgbClr val="5B636E"/>
                </a:solidFill>
                <a:latin typeface="Hiragino Sans"/>
              </a:rPr>
              <a:t>12</a:t>
            </a:r>
          </a:p>
        </p:txBody>
      </p:sp>
      <p:sp>
        <p:nvSpPr>
          <p:cNvPr id="7" name="Oval 6"/>
          <p:cNvSpPr/>
          <p:nvPr/>
        </p:nvSpPr>
        <p:spPr>
          <a:xfrm>
            <a:off x="868680" y="1234440"/>
            <a:ext cx="530352" cy="530352"/>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380744"/>
            <a:ext cx="292608" cy="164592"/>
          </a:xfrm>
          <a:prstGeom prst="rect">
            <a:avLst/>
          </a:prstGeom>
          <a:noFill/>
        </p:spPr>
        <p:txBody>
          <a:bodyPr wrap="none" lIns="27432" rIns="27432" tIns="18288" bIns="18288">
            <a:spAutoFit/>
          </a:bodyPr>
          <a:lstStyle/>
          <a:p>
            <a:pPr algn="ctr"/>
            <a:r>
              <a:rPr sz="1500" b="1">
                <a:solidFill>
                  <a:srgbClr val="FFFFFF"/>
                </a:solidFill>
                <a:latin typeface="Hiragino Sans"/>
              </a:rPr>
              <a:t>1</a:t>
            </a:r>
          </a:p>
        </p:txBody>
      </p:sp>
      <p:sp>
        <p:nvSpPr>
          <p:cNvPr id="9" name="TextBox 8"/>
          <p:cNvSpPr txBox="1"/>
          <p:nvPr/>
        </p:nvSpPr>
        <p:spPr>
          <a:xfrm>
            <a:off x="1600200" y="1261872"/>
            <a:ext cx="1920240" cy="274320"/>
          </a:xfrm>
          <a:prstGeom prst="rect">
            <a:avLst/>
          </a:prstGeom>
          <a:noFill/>
        </p:spPr>
        <p:txBody>
          <a:bodyPr wrap="none" lIns="27432" rIns="27432" tIns="18288" bIns="18288">
            <a:spAutoFit/>
          </a:bodyPr>
          <a:lstStyle/>
          <a:p>
            <a:r>
              <a:rPr sz="1800" b="1">
                <a:solidFill>
                  <a:srgbClr val="282D34"/>
                </a:solidFill>
                <a:latin typeface="Hiragino Sans"/>
              </a:rPr>
              <a:t>窓口特定</a:t>
            </a:r>
          </a:p>
        </p:txBody>
      </p:sp>
      <p:sp>
        <p:nvSpPr>
          <p:cNvPr id="10" name="TextBox 9"/>
          <p:cNvSpPr txBox="1"/>
          <p:nvPr/>
        </p:nvSpPr>
        <p:spPr>
          <a:xfrm>
            <a:off x="3337560" y="1271016"/>
            <a:ext cx="7680960" cy="274320"/>
          </a:xfrm>
          <a:prstGeom prst="rect">
            <a:avLst/>
          </a:prstGeom>
          <a:noFill/>
        </p:spPr>
        <p:txBody>
          <a:bodyPr wrap="none" lIns="27432" rIns="27432" tIns="18288" bIns="18288">
            <a:spAutoFit/>
          </a:bodyPr>
          <a:lstStyle/>
          <a:p>
            <a:r>
              <a:rPr sz="1700" b="0">
                <a:solidFill>
                  <a:srgbClr val="5B636E"/>
                </a:solidFill>
                <a:latin typeface="Hiragino Sans"/>
              </a:rPr>
              <a:t>AIポリシー/セキュリティポリシー所管部門の担当者を確認</a:t>
            </a:r>
          </a:p>
        </p:txBody>
      </p:sp>
      <p:sp>
        <p:nvSpPr>
          <p:cNvPr id="11" name="Oval 10"/>
          <p:cNvSpPr/>
          <p:nvPr/>
        </p:nvSpPr>
        <p:spPr>
          <a:xfrm>
            <a:off x="868680" y="2377440"/>
            <a:ext cx="530352" cy="530352"/>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2523744"/>
            <a:ext cx="292608" cy="164592"/>
          </a:xfrm>
          <a:prstGeom prst="rect">
            <a:avLst/>
          </a:prstGeom>
          <a:noFill/>
        </p:spPr>
        <p:txBody>
          <a:bodyPr wrap="none" lIns="27432" rIns="27432" tIns="18288" bIns="18288">
            <a:spAutoFit/>
          </a:bodyPr>
          <a:lstStyle/>
          <a:p>
            <a:pPr algn="ctr"/>
            <a:r>
              <a:rPr sz="1500" b="1">
                <a:solidFill>
                  <a:srgbClr val="FFFFFF"/>
                </a:solidFill>
                <a:latin typeface="Hiragino Sans"/>
              </a:rPr>
              <a:t>2</a:t>
            </a:r>
          </a:p>
        </p:txBody>
      </p:sp>
      <p:sp>
        <p:nvSpPr>
          <p:cNvPr id="13" name="TextBox 12"/>
          <p:cNvSpPr txBox="1"/>
          <p:nvPr/>
        </p:nvSpPr>
        <p:spPr>
          <a:xfrm>
            <a:off x="1600200" y="2404872"/>
            <a:ext cx="1920240" cy="274320"/>
          </a:xfrm>
          <a:prstGeom prst="rect">
            <a:avLst/>
          </a:prstGeom>
          <a:noFill/>
        </p:spPr>
        <p:txBody>
          <a:bodyPr wrap="none" lIns="27432" rIns="27432" tIns="18288" bIns="18288">
            <a:spAutoFit/>
          </a:bodyPr>
          <a:lstStyle/>
          <a:p>
            <a:r>
              <a:rPr sz="1800" b="1">
                <a:solidFill>
                  <a:srgbClr val="282D34"/>
                </a:solidFill>
                <a:latin typeface="Hiragino Sans"/>
              </a:rPr>
              <a:t>事前相談</a:t>
            </a:r>
          </a:p>
        </p:txBody>
      </p:sp>
      <p:sp>
        <p:nvSpPr>
          <p:cNvPr id="14" name="TextBox 13"/>
          <p:cNvSpPr txBox="1"/>
          <p:nvPr/>
        </p:nvSpPr>
        <p:spPr>
          <a:xfrm>
            <a:off x="3337560" y="2414016"/>
            <a:ext cx="7680960" cy="274320"/>
          </a:xfrm>
          <a:prstGeom prst="rect">
            <a:avLst/>
          </a:prstGeom>
          <a:noFill/>
        </p:spPr>
        <p:txBody>
          <a:bodyPr wrap="none" lIns="27432" rIns="27432" tIns="18288" bIns="18288">
            <a:spAutoFit/>
          </a:bodyPr>
          <a:lstStyle/>
          <a:p>
            <a:r>
              <a:rPr sz="1700" b="0">
                <a:solidFill>
                  <a:srgbClr val="5B636E"/>
                </a:solidFill>
                <a:latin typeface="Hiragino Sans"/>
              </a:rPr>
              <a:t>相談文案をもとに、扱えるデータとAI基盤を確認</a:t>
            </a:r>
          </a:p>
        </p:txBody>
      </p:sp>
      <p:sp>
        <p:nvSpPr>
          <p:cNvPr id="15" name="Oval 14"/>
          <p:cNvSpPr/>
          <p:nvPr/>
        </p:nvSpPr>
        <p:spPr>
          <a:xfrm>
            <a:off x="868680" y="3520440"/>
            <a:ext cx="530352" cy="530352"/>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3666744"/>
            <a:ext cx="292608" cy="164592"/>
          </a:xfrm>
          <a:prstGeom prst="rect">
            <a:avLst/>
          </a:prstGeom>
          <a:noFill/>
        </p:spPr>
        <p:txBody>
          <a:bodyPr wrap="none" lIns="27432" rIns="27432" tIns="18288" bIns="18288">
            <a:spAutoFit/>
          </a:bodyPr>
          <a:lstStyle/>
          <a:p>
            <a:pPr algn="ctr"/>
            <a:r>
              <a:rPr sz="1500" b="1">
                <a:solidFill>
                  <a:srgbClr val="FFFFFF"/>
                </a:solidFill>
                <a:latin typeface="Hiragino Sans"/>
              </a:rPr>
              <a:t>3</a:t>
            </a:r>
          </a:p>
        </p:txBody>
      </p:sp>
      <p:sp>
        <p:nvSpPr>
          <p:cNvPr id="17" name="TextBox 16"/>
          <p:cNvSpPr txBox="1"/>
          <p:nvPr/>
        </p:nvSpPr>
        <p:spPr>
          <a:xfrm>
            <a:off x="1600200" y="3547872"/>
            <a:ext cx="1920240" cy="274320"/>
          </a:xfrm>
          <a:prstGeom prst="rect">
            <a:avLst/>
          </a:prstGeom>
          <a:noFill/>
        </p:spPr>
        <p:txBody>
          <a:bodyPr wrap="none" lIns="27432" rIns="27432" tIns="18288" bIns="18288">
            <a:spAutoFit/>
          </a:bodyPr>
          <a:lstStyle/>
          <a:p>
            <a:r>
              <a:rPr sz="1800" b="1">
                <a:solidFill>
                  <a:srgbClr val="282D34"/>
                </a:solidFill>
                <a:latin typeface="Hiragino Sans"/>
              </a:rPr>
              <a:t>現場資料確認</a:t>
            </a:r>
          </a:p>
        </p:txBody>
      </p:sp>
      <p:sp>
        <p:nvSpPr>
          <p:cNvPr id="18" name="TextBox 17"/>
          <p:cNvSpPr txBox="1"/>
          <p:nvPr/>
        </p:nvSpPr>
        <p:spPr>
          <a:xfrm>
            <a:off x="3337560" y="3557016"/>
            <a:ext cx="7680960" cy="274320"/>
          </a:xfrm>
          <a:prstGeom prst="rect">
            <a:avLst/>
          </a:prstGeom>
          <a:noFill/>
        </p:spPr>
        <p:txBody>
          <a:bodyPr wrap="none" lIns="27432" rIns="27432" tIns="18288" bIns="18288">
            <a:spAutoFit/>
          </a:bodyPr>
          <a:lstStyle/>
          <a:p>
            <a:r>
              <a:rPr sz="1700" b="0">
                <a:solidFill>
                  <a:srgbClr val="5B636E"/>
                </a:solidFill>
                <a:latin typeface="Hiragino Sans"/>
              </a:rPr>
              <a:t>既存Excel・報告フォーマット・動画/メールの共有可能範囲を確認</a:t>
            </a:r>
          </a:p>
        </p:txBody>
      </p:sp>
      <p:sp>
        <p:nvSpPr>
          <p:cNvPr id="19" name="Oval 18"/>
          <p:cNvSpPr/>
          <p:nvPr/>
        </p:nvSpPr>
        <p:spPr>
          <a:xfrm>
            <a:off x="868680" y="4663440"/>
            <a:ext cx="530352" cy="530352"/>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4809744"/>
            <a:ext cx="292608" cy="164592"/>
          </a:xfrm>
          <a:prstGeom prst="rect">
            <a:avLst/>
          </a:prstGeom>
          <a:noFill/>
        </p:spPr>
        <p:txBody>
          <a:bodyPr wrap="none" lIns="27432" rIns="27432" tIns="18288" bIns="18288">
            <a:spAutoFit/>
          </a:bodyPr>
          <a:lstStyle/>
          <a:p>
            <a:pPr algn="ctr"/>
            <a:r>
              <a:rPr sz="1500" b="1">
                <a:solidFill>
                  <a:srgbClr val="FFFFFF"/>
                </a:solidFill>
                <a:latin typeface="Hiragino Sans"/>
              </a:rPr>
              <a:t>4</a:t>
            </a:r>
          </a:p>
        </p:txBody>
      </p:sp>
      <p:sp>
        <p:nvSpPr>
          <p:cNvPr id="21" name="TextBox 20"/>
          <p:cNvSpPr txBox="1"/>
          <p:nvPr/>
        </p:nvSpPr>
        <p:spPr>
          <a:xfrm>
            <a:off x="1600200" y="4690872"/>
            <a:ext cx="1920240" cy="274320"/>
          </a:xfrm>
          <a:prstGeom prst="rect">
            <a:avLst/>
          </a:prstGeom>
          <a:noFill/>
        </p:spPr>
        <p:txBody>
          <a:bodyPr wrap="none" lIns="27432" rIns="27432" tIns="18288" bIns="18288">
            <a:spAutoFit/>
          </a:bodyPr>
          <a:lstStyle/>
          <a:p>
            <a:r>
              <a:rPr sz="1800" b="1">
                <a:solidFill>
                  <a:srgbClr val="282D34"/>
                </a:solidFill>
                <a:latin typeface="Hiragino Sans"/>
              </a:rPr>
              <a:t>PoC設計</a:t>
            </a:r>
          </a:p>
        </p:txBody>
      </p:sp>
      <p:sp>
        <p:nvSpPr>
          <p:cNvPr id="22" name="TextBox 21"/>
          <p:cNvSpPr txBox="1"/>
          <p:nvPr/>
        </p:nvSpPr>
        <p:spPr>
          <a:xfrm>
            <a:off x="3337560" y="4700016"/>
            <a:ext cx="7680960" cy="274320"/>
          </a:xfrm>
          <a:prstGeom prst="rect">
            <a:avLst/>
          </a:prstGeom>
          <a:noFill/>
        </p:spPr>
        <p:txBody>
          <a:bodyPr wrap="none" lIns="27432" rIns="27432" tIns="18288" bIns="18288">
            <a:spAutoFit/>
          </a:bodyPr>
          <a:lstStyle/>
          <a:p>
            <a:r>
              <a:rPr sz="1700" b="0">
                <a:solidFill>
                  <a:srgbClr val="5B636E"/>
                </a:solidFill>
                <a:latin typeface="Hiragino Sans"/>
              </a:rPr>
              <a:t>許容構成に応じて、対象案件・画面・データ項目・見積もりを具体化</a:t>
            </a:r>
          </a:p>
        </p:txBody>
      </p:sp>
      <p:sp>
        <p:nvSpPr>
          <p:cNvPr id="23" name="TextBox 22"/>
          <p:cNvSpPr txBox="1"/>
          <p:nvPr/>
        </p:nvSpPr>
        <p:spPr>
          <a:xfrm>
            <a:off x="868680" y="5897880"/>
            <a:ext cx="10515600" cy="320040"/>
          </a:xfrm>
          <a:prstGeom prst="rect">
            <a:avLst/>
          </a:prstGeom>
          <a:noFill/>
        </p:spPr>
        <p:txBody>
          <a:bodyPr wrap="none" lIns="27432" rIns="27432" tIns="18288" bIns="18288">
            <a:spAutoFit/>
          </a:bodyPr>
          <a:lstStyle/>
          <a:p>
            <a:pPr algn="ctr"/>
            <a:r>
              <a:rPr sz="2000" b="1">
                <a:solidFill>
                  <a:srgbClr val="C00000"/>
                </a:solidFill>
                <a:latin typeface="Hiragino Sans"/>
              </a:rPr>
              <a:t>最初の判断ポイント: 「どのAI基盤なら、どのデータを、どの範囲で使えるか」。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